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109728" cy="2194560"/>
          </a:xfrm>
          <a:prstGeom prst="rect">
            <a:avLst/>
          </a:prstGeom>
          <a:solidFill>
            <a:srgbClr val="04F06A"/>
          </a:solidFill>
          <a:ln w="12700">
            <a:solidFill>
              <a:srgbClr val="04F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F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debrief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Aubray Retail Group · 2026-11-27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exercise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072030" cy="1005840"/>
          </a:xfrm>
          <a:prstGeom prst="rect">
            <a:avLst/>
          </a:prstGeom>
          <a:solidFill>
            <a:srgbClr val="1D1934"/>
          </a:solidFill>
          <a:ln w="12700">
            <a:solidFill>
              <a:srgbClr val="1D19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3550" y="1280160"/>
            <a:ext cx="2072030" cy="1005840"/>
          </a:xfrm>
          <a:prstGeom prst="rect">
            <a:avLst/>
          </a:prstGeom>
          <a:solidFill>
            <a:srgbClr val="1D1934"/>
          </a:solidFill>
          <a:ln w="12700">
            <a:solidFill>
              <a:srgbClr val="1D19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6430" y="137160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86430" y="187452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58461" y="1280160"/>
            <a:ext cx="2072030" cy="1005840"/>
          </a:xfrm>
          <a:prstGeom prst="rect">
            <a:avLst/>
          </a:prstGeom>
          <a:solidFill>
            <a:srgbClr val="1D1934"/>
          </a:solidFill>
          <a:ln w="12700">
            <a:solidFill>
              <a:srgbClr val="1D19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1341" y="137160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41341" y="187452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3371" y="1280160"/>
            <a:ext cx="2072030" cy="1005840"/>
          </a:xfrm>
          <a:prstGeom prst="rect">
            <a:avLst/>
          </a:prstGeom>
          <a:solidFill>
            <a:srgbClr val="1D1934"/>
          </a:solidFill>
          <a:ln w="12700">
            <a:solidFill>
              <a:srgbClr val="1D19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6251" y="137160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96251" y="187452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68282" y="1280160"/>
            <a:ext cx="2072030" cy="1005840"/>
          </a:xfrm>
          <a:prstGeom prst="rect">
            <a:avLst/>
          </a:prstGeom>
          <a:solidFill>
            <a:srgbClr val="1D1934"/>
          </a:solidFill>
          <a:ln w="12700">
            <a:solidFill>
              <a:srgbClr val="1D19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1162" y="137160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51162" y="187452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9718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Friday week, Friday morning: ransomware encrypts Maison Aubray's head-office IT during peak sales. Stolen customer data is held for a 12M€ ransom, card skimming is suspected on the e-commerce checkout, and 420 stores must keep selling in degraded mode. Four cells must…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651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Everyone: apply the crisis management procedure, share one…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crisis cell (executive committee): decide under…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cyber cell (CIO, CISO, SOC, infrastructure, payment IT)…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cell: prepare holding statements for customers…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of the exercise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821180" cy="822960"/>
          </a:xfrm>
          <a:prstGeom prst="rect">
            <a:avLst/>
          </a:prstGeom>
          <a:solidFill>
            <a:srgbClr val="D69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907792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Friday under encryption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injects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7252" y="2834640"/>
            <a:ext cx="3669792" cy="822960"/>
          </a:xfrm>
          <a:prstGeom prst="rect">
            <a:avLst/>
          </a:prstGeom>
          <a:solidFill>
            <a:srgbClr val="D69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2116" y="2907792"/>
            <a:ext cx="3560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skimmer and the first arbitration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97252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94476" y="2834640"/>
            <a:ext cx="2745486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9340" y="2907792"/>
            <a:ext cx="26357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million euros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injects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4476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67394" y="2834640"/>
            <a:ext cx="1513078" cy="822960"/>
          </a:xfrm>
          <a:prstGeom prst="rect">
            <a:avLst/>
          </a:prstGeom>
          <a:solidFill>
            <a:srgbClr val="D69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2258" y="2907792"/>
            <a:ext cx="14033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 goes public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injects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7394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07904" y="2834640"/>
            <a:ext cx="1204976" cy="822960"/>
          </a:xfrm>
          <a:prstGeom prst="rect">
            <a:avLst/>
          </a:prstGeom>
          <a:solidFill>
            <a:srgbClr val="EA6A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62768" y="2907792"/>
            <a:ext cx="1095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forces the decision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injects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07904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H+3:00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148840"/>
            <a:ext cx="0" cy="68580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" y="1234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08:00 - Crisis cell convenes: hypervisors…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97252" y="3931920"/>
            <a:ext cx="0" cy="50292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437132" y="4343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08:30 - Forensics confirm a weeks-old…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59938" y="2148840"/>
            <a:ext cx="0" cy="68580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99818" y="1600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H+0:44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08:44 - 1.8 TB of exfiltrated data confirmed…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8827" y="3931920"/>
            <a:ext cx="0" cy="50292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778707" y="5074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H+1:08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09:08 - Suspicious JavaScript found loading on…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4476" y="2148840"/>
            <a:ext cx="0" cy="68580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134356" y="1234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09:30 - VEIL-9 emails the CEO: 12M€ ransom in…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67394" y="3931920"/>
            <a:ext cx="0" cy="50292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907274" y="4343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10:15 - A sample of the stolen customer…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407904" y="2148840"/>
            <a:ext cx="0" cy="685800"/>
          </a:xfrm>
          <a:prstGeom prst="line">
            <a:avLst/>
          </a:prstGeom>
          <a:noFill/>
          <a:ln w="12700">
            <a:solidFill>
              <a:srgbClr val="1D193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9447784" y="1600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10:40 - The acquiring bank reports a…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Black Friday under encryption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69E00"/>
          </a:solidFill>
          <a:ln w="12700">
            <a:solidFill>
              <a:srgbClr val="D69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H+0:00 to H+0:30 ·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06:00-08:00 recap lands at once: hypervisors encrypted overnight, ERP, warehouse management and store back-office down, 420 stores open in…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H+0:00  08:00 - Crisis cell convenes: hypervisors encrypted at 05:50…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H+0:02  SOC alert: mass encryption of head-office hypervisors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H+0:05  On-call activation: crisis cell convened for 08:00 → Strategic crisis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H+0:10  420 stores in degraded mode: no price files, no… → Legal, compliance &amp;…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H+0:14  Sentinelle CERT engaged - first containment guidance → IT &amp; cyber cell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Black Friday under encryption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69E00"/>
          </a:solidFill>
          <a:ln w="12700">
            <a:solidFill>
              <a:srgbClr val="D69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H+0:00 to H+0:30 ·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H+0:18  Employees flooding internal channels: are we hacked? → Communication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H+0:22  Journalist: 'Your site is down on Black Friday - are… → Strategic crisis cell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Scope, skimmer and the first arbitration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69E00"/>
          </a:solidFill>
          <a:ln w="12700">
            <a:solidFill>
              <a:srgbClr val="D69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H+0:30 to H+1:30 ·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maps the compromise and finds traces of long intrusion and exfiltration; the IR provider flags suspicious checkout JavaScript. The…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H+0:30  08:30 - Forensics confirm a weeks-old intrusion: beacon…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H+0:44  08:44 - 1.8 TB of exfiltrated data confirmed, including the…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H+1:08  09:08 - Suspicious JavaScript found loading on the e-commerce…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H+0:33  Forensic findings: weeks-old beacon, Kerberoasting…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H+0:38  E-commerce anomaly: checkout page loading an unknown…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H+0:44  Exfiltration confirmed: 1.8 TB moved to cloud storage → Legal, compliance &amp;…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H+0:50  Cybercrime unit: complaint procedure and evidence… → Legal, compliance &amp;…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Scope, skimmer and the first arbitration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69E00"/>
          </a:solidFill>
          <a:ln w="12700">
            <a:solidFill>
              <a:srgbClr val="D69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H+0:30 to H+1:30 ·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H+0:58  Dilemma brief: isolate e-commerce now or keep Black… → Strategic crisis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H+1:06  Customers complaining online: site slow, orders failing → Communication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H+1:14  Journalist follow-up: sources mention ransom notes in… → Communication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H+1:22  Store chaos: manual payments, queues, loyalty blocked → Legal, compliance &amp;…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12 million euros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H+1:30 to H+2:15 · Peak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09:30: the attacker emails the CEO directly - 12M€ in 72 hours or the customer database and 'card data' are published. The ransom demand…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H+1:30  09:30 - VEIL-9 emails the CEO: 12M€ ransom in 72 hours or the…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H+1:30  Ransom demand to the CEO: 12M€ in 72 hours → Strategic crisis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H+1:34  Leak-site post: 'Maison Aubray - data next'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H+1:39  Legal and IR guidance on the ransom demand → Legal, compliance &amp;…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H+1:44  Board and family shareholders pressing for answers → Communication cell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12 million euros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H+1:30 to H+2:15 · Peak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H+1:50  Data Protection Authority acknowledges contact, asks… → Legal, compliance &amp;…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H+1:58  Journalist deadline: 'We will run the ransom story at… → Communication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H+2:04  Skimmer confirmed: checkout script POSTs to attacker…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H+2:10  CFO: can we even pay? Insurance and sanctions questions → Strategic crisis cell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The leak goes public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69E00"/>
          </a:solidFill>
          <a:ln w="12700">
            <a:solidFill>
              <a:srgbClr val="D69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H+2:15 to H+2:40 ·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10:15: a sample of customer data appears on the attacker's leak site. Within minutes a viral post shows a customer whose card was…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H+2:15  10:15 - A sample of the stolen customer database appears on…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H+2:16  Leak site: customer data sample published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H+2:19  Viral post: 'My card was defrauded after shopping at… → Communication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H+2:23  Press picks up the leak: 'Millions of Aubray… → Communication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H+2:27  Customer service overwhelmed: call volumes x8 → Legal, compliance &amp;…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The leak goes public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69E00"/>
          </a:solidFill>
          <a:ln w="12700">
            <a:solidFill>
              <a:srgbClr val="D69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H+2:15 to H+2:40 ·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H+2:31  Regulator reactively informed by press: expects… → Legal, compliance &amp;…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H+2:35  TV news: ransomware and leak at Maison Aubray → Strategic crisis cell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The bank forces the decision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6A0C"/>
          </a:solidFill>
          <a:ln w="12700">
            <a:solidFill>
              <a:srgbClr val="EA6A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6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H+2:40 to H+3:00 · High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10:40: the acquiring bank reports a common-point-of-purchase fraud pattern pointing at the online shop and demands action on the…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H+2:40  10:40 - The acquiring bank reports a common-point-of-purchase…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H+2:41  Acquiring bank: fraud pattern points to your online… → Strategic crisis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H+2:45  Bank forensic requirements: preserve logs, no… → IT &amp; cyber cell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H+2:49  Stores asking: do we take cards today or not? → Legal, compliance &amp;…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H+2:53  All-staff message needed before lunch rush → Communication cell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The bank forces the decision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6A0C"/>
          </a:solidFill>
          <a:ln w="12700">
            <a:solidFill>
              <a:srgbClr val="EA6A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6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H+2:40 to H+3:00 · High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H+2:56  End-of-play crisis cell sync: lock decisions, log and… → Strategic crisis cell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really happened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phishing email opens the door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crisis began with a single unopened suspicion: one clerk, one invoice, one…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establishes a silent foothold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24 hours, the intruders had a permanent channel — and nobody knew they were inside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credentials unlock the heart of the domain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 service account password turned a workspace compromise into total control of the…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card skimmer is injected into the online checkout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before the ransomware detonated, customers' card data was already being stolen…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really happened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terabytes of data exfiltrated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ransom demand was never really about decryption — the leverage was stolen data…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are sabotaged in silence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attackers spent two days ensuring recovery would be as painful as possible — while…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H0 (D-day 05:50)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detonates across head office and logistics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05:50 on the biggest retail morning of the year, the company's digital nervous system…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H+0:40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 stores open blind in degraded mode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price files, no loyalty and no back-office, the entire physical retail network…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really happened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H+1:20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 reveals a weeks-old intrusion and dead backups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 team's first readout changed everything: this was not a fresh attack, and…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H+3:40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VEIL-9 demands 12 million euros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09:30, extortion became personal: a direct ransom email to the CEO with a 72-hour clock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H+4:50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checkout skimmer is confirmed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VEIL-9's 'card data' claim was not a bluff: the online checkout had been harvesting…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H+4:25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sample published on the leak site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threat became real at 10:15: a sample of real customer records appeared online as…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really happened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H+4:50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acquiring bank confirms the fraud pattern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external evidence confirmed the payment breach: the acquiring bank traced…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H+5 to H+6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locks in its core decisions under media fire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late morning, four cells needed one coherent answer on e-commerce, payments, ransom…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+1 to Day +3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Notification, containment and the ransom clock run out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72-hour deadline and the GDPR clock ran in parallel — both had to be managed…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+2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without backups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backup sabotage succeeded, recovery meant rebuilding from near zero — weeks…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really happened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+6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causes: phishing, a weak service account and…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review traced the whole chain: three weeks of dwell time, three failures that…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by cell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1188720"/>
                <a:gridCol w="1005840"/>
                <a:gridCol w="1005840"/>
                <a:gridCol w="1005840"/>
                <a:gridCol w="100584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65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65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6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D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A4B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B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65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crisis cell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6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D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B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Legal, compliance &amp; business cell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6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D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B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 cell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6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D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B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cyber cell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6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D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B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9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performed without challenges · S with some challenges · M with major challenges · U unable to be performed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exercise stressed all four cells with simultaneous ransomware, suspected card skimming, GDPR 72-hour, PCI and NIS2…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arbitrations — isolate e-commerce, engage/stall/refuse the 12M€ ransom, notify without premature disclosure —…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marks are not yet recorded; the findings below are based on the exercise design and must be confirmed with…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 objectives tested: one shared situation picture across four cells, a maintained decision log, and…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areas for improvement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confirmed with participants; observed plausibly: the crisis cell convened at 08:00…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four-cell structure was activated and each cell engaged its specific duties…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injected realistic pressure points (leak site, viral fraud post, bank…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FOR IMPROVEMENT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in the hot wash whether the isolation decision for e-commerce and payment…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the ransom decision framework (engage/stall/refuse) was discussed with…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the GDPR 72-hour clock was formally started at 08:44 when exfiltration…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one consistent situation picture was actually shared across all four…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areas for improvement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FOR IMPROVEMENT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decision logs were kept in real time in every cell, and whether…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to predefine a payment-isolation decision tree (e-commerce + terminals) with…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committee to adopt a written ransom decision framework (legal, insurance…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to map the GDPR/PCI/NIS2 notification checklist with owners and deadlines, tested…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manager to formalise a cross-cell situation report cycle and mandatory…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Facilitators to collect evaluator marks and cell notes and issue the final after-action…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the hot wash with all four cells to confirm the open questions above, especially…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follow-up tabletop within six months focusing on the weakest criteria…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agreed actions into the group's crisis plan and next cyber resilience…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51DC7"/>
          </a:solidFill>
          <a:ln w="12700">
            <a:solidFill>
              <a:srgbClr val="451D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steps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Frozen Till ·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customer service to size a customer-service surge plan for Black Friday-level…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1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dirty="0">
                <a:solidFill>
                  <a:srgbClr val="1D1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109728" cy="2194560"/>
          </a:xfrm>
          <a:prstGeom prst="rect">
            <a:avLst/>
          </a:prstGeom>
          <a:solidFill>
            <a:srgbClr val="04F06A"/>
          </a:solidFill>
          <a:ln w="12700">
            <a:solidFill>
              <a:srgbClr val="04F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23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Maison Aubray Retail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Frozen Till</dc:title>
  <dc:subject>PptxGenJS Presentation</dc:subject>
  <dc:creator>PptxGenJS</dc:creator>
  <cp:lastModifiedBy>PptxGenJS</cp:lastModifiedBy>
  <cp:revision>1</cp:revision>
  <dcterms:created xsi:type="dcterms:W3CDTF">2026-09-29T01:15:36Z</dcterms:created>
  <dcterms:modified xsi:type="dcterms:W3CDTF">2026-09-29T01:15:36Z</dcterms:modified>
</cp:coreProperties>
</file>