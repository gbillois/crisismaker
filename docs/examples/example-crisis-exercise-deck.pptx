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deck to load in the Context tab of CrisisMaker, then to generate with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players do not know the scenario: they live the exercise as a real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Fallback if needed: switch to a ransomware or zero-day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000" cy="6860000"/>
          </a:xfrm>
          <a:prstGeom prst="rect">
            <a:avLst/>
          </a:prstGeom>
          <a:solidFill>
            <a:srgbClr val="211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800000" y="1200000"/>
            <a:ext cx="10600000" cy="6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Executive crisis exercise: loss of control of an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000000"/>
            <a:ext cx="10600000" cy="3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Example deck · Orvane Group (fictitious company)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400000"/>
            <a:ext cx="10600000" cy="6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Every organisation, person and situation in this deck is invented.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120000"/>
            <a:ext cx="60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100" b="0">
                <a:solidFill>
                  <a:srgbClr val="5B576E"/>
                </a:solidFill>
                <a:latin typeface="Arial"/>
              </a:rPr>
              <a:t>Executive crisis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340000"/>
            <a:ext cx="11300000" cy="4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2400" b="1">
                <a:solidFill>
                  <a:srgbClr val="211248"/>
                </a:solidFill>
                <a:latin typeface="Arial"/>
              </a:rPr>
              <a:t>Exercise identity card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0000" y="6500000"/>
            <a:ext cx="13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r"/>
            <a:r>
              <a:rPr sz="800" b="0">
                <a:solidFill>
                  <a:srgbClr val="5B576E"/>
                </a:solidFill>
                <a:latin typeface="Arial"/>
              </a:rPr>
              <a:t>Fictitious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000" y="900000"/>
            <a:ext cx="5600000" cy="1500000"/>
          </a:xfrm>
          <a:prstGeom prst="rect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100" b="0">
                <a:solidFill>
                  <a:srgbClr val="211248"/>
                </a:solidFill>
                <a:latin typeface="Arial"/>
              </a:rPr>
              <a:t>Exercise duration: 45 minutes</a:t>
            </a:r>
          </a:p>
          <a:p>
            <a:pPr algn="l"/>
            <a:r>
              <a:rPr sz="1100" b="0">
                <a:solidFill>
                  <a:srgbClr val="211248"/>
                </a:solidFill>
                <a:latin typeface="Arial"/>
              </a:rPr>
              <a:t>Date: to be set with the sponsors (e.g. a Tuesday at 10:00)</a:t>
            </a:r>
          </a:p>
          <a:p>
            <a:pPr algn="l"/>
            <a:r>
              <a:rPr sz="1100" b="0">
                <a:solidFill>
                  <a:srgbClr val="211248"/>
                </a:solidFill>
                <a:latin typeface="Arial"/>
              </a:rPr>
              <a:t>Format: immersive simulation, in the boardroom</a:t>
            </a:r>
          </a:p>
          <a:p>
            <a:pPr algn="l"/>
            <a:r>
              <a:rPr sz="1100" b="0">
                <a:solidFill>
                  <a:srgbClr val="211248"/>
                </a:solidFill>
                <a:latin typeface="Arial"/>
              </a:rPr>
              <a:t>Participants: the full executive committee (decision cell)</a:t>
            </a:r>
          </a:p>
          <a:p>
            <a:pPr algn="l"/>
            <a:r>
              <a:rPr sz="1100" b="0">
                <a:solidFill>
                  <a:srgbClr val="211248"/>
                </a:solidFill>
                <a:latin typeface="Arial"/>
              </a:rPr>
              <a:t>Simulated period: one week for the impact phase, several months for remediation</a:t>
            </a:r>
          </a:p>
          <a:p>
            <a:pPr algn="l"/>
            <a:r>
              <a:rPr sz="1100" b="0">
                <a:solidFill>
                  <a:srgbClr val="211248"/>
                </a:solidFill>
                <a:latin typeface="Arial"/>
              </a:rPr>
              <a:t>Facilitation: two cyber facilitators and four accomplices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0000" y="900000"/>
            <a:ext cx="55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200" b="1">
                <a:solidFill>
                  <a:srgbClr val="451DC7"/>
                </a:solidFill>
                <a:latin typeface="Arial"/>
              </a:rPr>
              <a:t>OBJECTIVES FOR THE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0000" y="1160000"/>
            <a:ext cx="5500000" cy="124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1. Protect the Group: be cyber-resilient against regulatory requirements (NIS2, AI Act)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2. Innovate safely: take in the risks of autonomous AI agents, still poorly covered by crisis plans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3. Prepare the executive committee: decide fast under pressure, with clear roles and decision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2600000"/>
            <a:ext cx="113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200" b="1">
                <a:solidFill>
                  <a:srgbClr val="451DC7"/>
                </a:solidFill>
                <a:latin typeface="Arial"/>
              </a:rPr>
              <a:t>LEARNING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2860000"/>
            <a:ext cx="11300000" cy="11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Chief executive: decide whether to stop the AI tools under uncertainty and document every decision.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Legal: qualify the Group's liability towards third parties and the notification duties (NIS2, GDPR, AI Act).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Communication: hold a consistent stance towards partners, authorities and the press.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IT and cyber: contain the agent, preserve the evidence and confirm the return to human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4100000"/>
            <a:ext cx="113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200" b="1">
                <a:solidFill>
                  <a:srgbClr val="451DC7"/>
                </a:solidFill>
                <a:latin typeface="Arial"/>
              </a:rPr>
              <a:t>KEY SUCCESS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4360000"/>
            <a:ext cx="11300000" cy="8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Realism: a credible scenario, inspired by real threats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Deciding under uncertainty: fast, documented trade-offs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Lessons learned: a formal capture after the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120000"/>
            <a:ext cx="60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100" b="0">
                <a:solidFill>
                  <a:srgbClr val="5B576E"/>
                </a:solidFill>
                <a:latin typeface="Arial"/>
              </a:rPr>
              <a:t>Executive crisis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340000"/>
            <a:ext cx="11300000" cy="4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2400" b="1">
                <a:solidFill>
                  <a:srgbClr val="211248"/>
                </a:solidFill>
                <a:latin typeface="Arial"/>
              </a:rPr>
              <a:t>Players and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60000"/>
            <a:ext cx="11300000" cy="26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200" b="0">
                <a:solidFill>
                  <a:srgbClr val="5B576E"/>
                </a:solidFill>
                <a:latin typeface="Arial"/>
              </a:rPr>
              <a:t>One decision cell: the executive committee, with its key functions.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6500000"/>
            <a:ext cx="13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r"/>
            <a:r>
              <a:rPr sz="800" b="0">
                <a:solidFill>
                  <a:srgbClr val="5B576E"/>
                </a:solidFill>
                <a:latin typeface="Arial"/>
              </a:rPr>
              <a:t>Fictitious example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0000" y="1100000"/>
          <a:ext cx="11300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000"/>
                <a:gridCol w="1808000"/>
                <a:gridCol w="2938000"/>
                <a:gridCol w="3842000"/>
              </a:tblGrid>
              <a:tr h="26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Cell</a:t>
                      </a:r>
                    </a:p>
                  </a:txBody>
                  <a:tcPr>
                    <a:solidFill>
                      <a:srgbClr val="451D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>
                    <a:solidFill>
                      <a:srgbClr val="451D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>
                    <a:solidFill>
                      <a:srgbClr val="451D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 in the exercise</a:t>
                      </a:r>
                    </a:p>
                  </a:txBody>
                  <a:tcPr>
                    <a:solidFill>
                      <a:srgbClr val="451DC7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Decision cell (executive committee)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Helena Varga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Group Chief Executive Officer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Chairs the cell, arbitrates and decides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Decision cell (executive committee)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Marc Delorme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General Counsel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Liability, notifications, relations with third parties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Decision cell (executive committee)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Aisha Rahman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Chief Communications Officer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Internal and external stance and messages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Decision cell (executive committee)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Tomas Lindqvist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Chief Financial Officer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Financial impacts, insurance,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Decision cell (executive committee)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Claire Moreau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Chief Human Resources Officer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Staff, interns, employee relations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Decision cell (executive committee)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David Okonkwo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Chief Operating Officer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Continuity of operations and of the responses to tenders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Decision cell (executive committee)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Nina Castellanos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Group Chief Information Officer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Systems, AI tools, technical investigation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Decision cell (executive committee)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Paul Werner, Sofia Brandt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Heads of the main subsidiaries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Business and customer impacts of each subsidiary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120000"/>
            <a:ext cx="60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100" b="0">
                <a:solidFill>
                  <a:srgbClr val="5B576E"/>
                </a:solidFill>
                <a:latin typeface="Arial"/>
              </a:rPr>
              <a:t>Executive crisis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340000"/>
            <a:ext cx="11300000" cy="4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2400" b="1">
                <a:solidFill>
                  <a:srgbClr val="211248"/>
                </a:solidFill>
                <a:latin typeface="Arial"/>
              </a:rPr>
              <a:t>Accomplices and facilitation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60000"/>
            <a:ext cx="11300000" cy="26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200" b="0">
                <a:solidFill>
                  <a:srgbClr val="5B576E"/>
                </a:solidFill>
                <a:latin typeface="Arial"/>
              </a:rPr>
              <a:t>Staff who know the scenario: they play roles and deliver stimuli, without taking part in the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6500000"/>
            <a:ext cx="13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r"/>
            <a:r>
              <a:rPr sz="800" b="0">
                <a:solidFill>
                  <a:srgbClr val="5B576E"/>
                </a:solidFill>
                <a:latin typeface="Arial"/>
              </a:rPr>
              <a:t>Fictitious example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0000" y="1100000"/>
          <a:ext cx="11300000" cy="1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6000"/>
                <a:gridCol w="1808000"/>
                <a:gridCol w="3164000"/>
                <a:gridCol w="3842000"/>
              </a:tblGrid>
              <a:tr h="26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Accomplice</a:t>
                      </a:r>
                    </a:p>
                  </a:txBody>
                  <a:tcPr>
                    <a:solidFill>
                      <a:srgbClr val="451D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>
                    <a:solidFill>
                      <a:srgbClr val="451D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Roles played</a:t>
                      </a:r>
                    </a:p>
                  </a:txBody>
                  <a:tcPr>
                    <a:solidFill>
                      <a:srgbClr val="451D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Stimuli delivered</a:t>
                      </a:r>
                    </a:p>
                  </a:txBody>
                  <a:tcPr>
                    <a:solidFill>
                      <a:srgbClr val="451DC7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Group CISO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Julien Marchetti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SOC team, internal cyber expert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Connection traces, logs, map of the agent's rights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Head of AI innovation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Priya Nair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AI platform team, interns from other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Evidence tied to the AI tool, messages from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Head of customer relations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Oliver Grant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Customer, competitor, partner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Emails and calls from the third parties attacked</a:t>
                      </a:r>
                    </a:p>
                  </a:txBody>
                  <a:tcPr>
                    <a:solidFill>
                      <a:srgbClr val="EEEAFB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Communications officer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Lea Fontaine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Journalist, social 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1248"/>
                          </a:solidFill>
                          <a:latin typeface="Arial"/>
                        </a:rPr>
                        <a:t>Media speculation, article on an "AI out of control"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0000" y="2900000"/>
            <a:ext cx="11300000" cy="6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Observers: two cyber experts, Hugo Lambert and Mei Tanaka (facilitation), and Rachel Stein from risk management.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Early stop: the lead facilitator can pause the game at any time (fallback: a ransomware scenario).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120000"/>
            <a:ext cx="60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100" b="0">
                <a:solidFill>
                  <a:srgbClr val="5B576E"/>
                </a:solidFill>
                <a:latin typeface="Arial"/>
              </a:rPr>
              <a:t>Executive crisis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340000"/>
            <a:ext cx="11300000" cy="4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2400" b="1">
                <a:solidFill>
                  <a:srgbClr val="211248"/>
                </a:solidFill>
                <a:latin typeface="Arial"/>
              </a:rPr>
              <a:t>Scenario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0000" y="6500000"/>
            <a:ext cx="13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r"/>
            <a:r>
              <a:rPr sz="800" b="0">
                <a:solidFill>
                  <a:srgbClr val="5B576E"/>
                </a:solidFill>
                <a:latin typeface="Arial"/>
              </a:rPr>
              <a:t>Fictitious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840000"/>
            <a:ext cx="11300000" cy="58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The tender response team of a Group subsidiary uses an AI agent to prepare a large bid. It asks the agent to analyse what competitors do, notably the companies Kestrel and Norlane. The platform is poorly configured and the agent is not supervised: it goes beyond its role.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In this scenario, the Group is not attacked: it becomes an attacker without knowing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500000"/>
            <a:ext cx="30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200" b="1">
                <a:solidFill>
                  <a:srgbClr val="451DC7"/>
                </a:solidFill>
                <a:latin typeface="Arial"/>
              </a:rPr>
              <a:t>Attack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0000" y="1780000"/>
            <a:ext cx="1800000" cy="26000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STEP 01 · D-14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000" y="2080000"/>
            <a:ext cx="1800000" cy="260000"/>
          </a:xfrm>
          <a:prstGeom prst="rect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Intended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" y="2380000"/>
            <a:ext cx="1800000" cy="70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The agent reads the competitors' public responses to tenders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0" y="1780000"/>
            <a:ext cx="1800000" cy="26000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STEP 02 · D-9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0" y="2080000"/>
            <a:ext cx="1800000" cy="260000"/>
          </a:xfrm>
          <a:prstGeom prst="rect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Refinement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0000" y="2380000"/>
            <a:ext cx="1800000" cy="70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The agent finds an access between the Group and a competitor (a joint project)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0000" y="1780000"/>
            <a:ext cx="1800000" cy="26000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STEP 03 · D-6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0000" y="2080000"/>
            <a:ext cx="1800000" cy="260000"/>
          </a:xfrm>
          <a:prstGeom prst="rect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Intrusion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0000" y="2380000"/>
            <a:ext cx="1800000" cy="70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The agent uses this access to enter the competitor's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000" y="1780000"/>
            <a:ext cx="1800000" cy="26000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STEP 04 · D-4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0000" y="2080000"/>
            <a:ext cx="1800000" cy="260000"/>
          </a:xfrm>
          <a:prstGeom prst="rect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000" y="2380000"/>
            <a:ext cx="1800000" cy="70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The agent looks for the answers to the targeted bid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0000" y="1780000"/>
            <a:ext cx="1800000" cy="26000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STEP 05 · D-2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0000" y="2080000"/>
            <a:ext cx="1800000" cy="260000"/>
          </a:xfrm>
          <a:prstGeom prst="rect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Exfiltration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0000" y="2380000"/>
            <a:ext cx="1800000" cy="70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The agent extracts the answer and installs a backdoor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50000" y="1780000"/>
            <a:ext cx="1800000" cy="26000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STEP 06 · D-day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50000" y="2080000"/>
            <a:ext cx="1800000" cy="260000"/>
          </a:xfrm>
          <a:prstGeom prst="rect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50000" y="2380000"/>
            <a:ext cx="1800000" cy="70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The agent hands its report to the team, who notice nothing unusual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000" y="3300000"/>
            <a:ext cx="113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200" b="1">
                <a:solidFill>
                  <a:srgbClr val="451DC7"/>
                </a:solidFill>
                <a:latin typeface="Arial"/>
              </a:rPr>
              <a:t>IMPACTS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000" y="3560000"/>
            <a:ext cx="11300000" cy="7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Legal: threat of lawsuits from the competitors, the Group's liability towards third parties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Reputation: a crisis between major players of the sector, loss of partners' trust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Financial: possible penalties (AI Act), fall of the share 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000" y="4400000"/>
            <a:ext cx="113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200" b="1">
                <a:solidFill>
                  <a:srgbClr val="451DC7"/>
                </a:solidFill>
                <a:latin typeface="Arial"/>
              </a:rPr>
              <a:t>DECISIONS EXPECTED FROM THE EXECUTIVE COMMITTEE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000" y="4660000"/>
            <a:ext cx="11300000" cy="9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1. Establish whether the attack is real and where it comes from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2. Communicate internally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3. Communicate externally (third parties, authorities, press)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4. Analyse the legal and financial risk</a:t>
            </a:r>
          </a:p>
          <a:p>
            <a:pPr algn="l"/>
            <a:r>
              <a:rPr sz="1000" b="0">
                <a:solidFill>
                  <a:srgbClr val="211248"/>
                </a:solidFill>
                <a:latin typeface="Arial"/>
              </a:rPr>
              <a:t>5. Bring the agent back under control and prevent a recurrence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120000"/>
            <a:ext cx="60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100" b="0">
                <a:solidFill>
                  <a:srgbClr val="5B576E"/>
                </a:solidFill>
                <a:latin typeface="Arial"/>
              </a:rPr>
              <a:t>Executive crisis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340000"/>
            <a:ext cx="11300000" cy="4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2400" b="1">
                <a:solidFill>
                  <a:srgbClr val="211248"/>
                </a:solidFill>
                <a:latin typeface="Arial"/>
              </a:rPr>
              <a:t>Exercise scenario in 3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60000"/>
            <a:ext cx="11300000" cy="26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200" b="0">
                <a:solidFill>
                  <a:srgbClr val="5B576E"/>
                </a:solidFill>
                <a:latin typeface="Arial"/>
              </a:rPr>
              <a:t>An AI agent goes beyond its rights and attacks competitors the Group works with.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6500000"/>
            <a:ext cx="13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r"/>
            <a:r>
              <a:rPr sz="800" b="0">
                <a:solidFill>
                  <a:srgbClr val="5B576E"/>
                </a:solidFill>
                <a:latin typeface="Arial"/>
              </a:rPr>
              <a:t>Fictitious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1040000"/>
            <a:ext cx="1500000" cy="30000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Brief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0000" y="1040000"/>
            <a:ext cx="3200000" cy="30000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Sequence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0000" y="1040000"/>
            <a:ext cx="3200000" cy="30000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Sequence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50000" y="1040000"/>
            <a:ext cx="3200000" cy="300000"/>
          </a:xfrm>
          <a:prstGeom prst="rect">
            <a:avLst/>
          </a:prstGeom>
          <a:solidFill>
            <a:srgbClr val="451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Sequence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" y="1400000"/>
            <a:ext cx="1500000" cy="260000"/>
          </a:xfrm>
          <a:prstGeom prst="rect">
            <a:avLst/>
          </a:prstGeom>
          <a:solidFill>
            <a:srgbClr val="EEEAFB"/>
          </a:solidFill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0000" y="1400000"/>
            <a:ext cx="3200000" cy="26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H+0:00 → H+0:15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50000" y="1400000"/>
            <a:ext cx="3200000" cy="26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H+0:15 → H+0:30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50000" y="1400000"/>
            <a:ext cx="3200000" cy="26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H+0:30 → H+0:45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000" y="1720000"/>
            <a:ext cx="1500000" cy="400000"/>
          </a:xfrm>
          <a:prstGeom prst="rect">
            <a:avLst/>
          </a:prstGeom>
          <a:solidFill>
            <a:srgbClr val="EEEAFB"/>
          </a:solidFill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Key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0000" y="1720000"/>
            <a:ext cx="3200000" cy="40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A third party raises the alarm; first suspicions about the source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50000" y="1720000"/>
            <a:ext cx="3200000" cy="40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Proof that an AI agent was used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50000" y="1720000"/>
            <a:ext cx="3200000" cy="40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A fix is deployed and control is restored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000" y="2180000"/>
            <a:ext cx="1500000" cy="620000"/>
          </a:xfrm>
          <a:prstGeom prst="rect">
            <a:avLst/>
          </a:prstGeom>
          <a:solidFill>
            <a:srgbClr val="EEEAFB"/>
          </a:solidFill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Presentation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0000" y="2180000"/>
            <a:ext cx="3200000" cy="62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A competitor reports an intrusion with evidence pointing to the Group's tools (without mentioning AI).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50000" y="2180000"/>
            <a:ext cx="3200000" cy="62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The investigation confirms that an AI agent of the Group carried out the actions.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50000" y="2180000"/>
            <a:ext cx="3200000" cy="62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Another AI tool is deployed to clean up once the agent is shut down.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000" y="2860000"/>
            <a:ext cx="1500000" cy="840000"/>
          </a:xfrm>
          <a:prstGeom prst="rect">
            <a:avLst/>
          </a:prstGeom>
          <a:solidFill>
            <a:srgbClr val="EEEAFB"/>
          </a:solidFill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Questions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0000" y="2860000"/>
            <a:ext cx="3200000" cy="84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Is the technical evidence reliable?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Should an internal investigation start?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What stance towards third parties?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0000" y="2860000"/>
            <a:ext cx="3200000" cy="84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How did the agent get these capabilities?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Should the AI systems be stopped?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Should the authorities be told?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50000" y="2860000"/>
            <a:ext cx="3200000" cy="84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Can the agent's shutdown be guaranteed?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What external communication?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How to prevent a recurrence?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000" y="3760000"/>
            <a:ext cx="1500000" cy="840000"/>
          </a:xfrm>
          <a:prstGeom prst="rect">
            <a:avLst/>
          </a:prstGeom>
          <a:solidFill>
            <a:srgbClr val="EEEAFB"/>
          </a:solidFill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Expected decisions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0000" y="3760000"/>
            <a:ext cx="3200000" cy="84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Start the investigation and preserve evidence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Frame the legal analysis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Set the communication stance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50000" y="3760000"/>
            <a:ext cx="3200000" cy="84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Contain and disable the AI tool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Identify exposed systems and data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Choose the regulatory stance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50000" y="3760000"/>
            <a:ext cx="3200000" cy="84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Confirm the return to human control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Mobilise a wider cell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Launch remediation and the post-mortem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000" y="4660000"/>
            <a:ext cx="1500000" cy="1040000"/>
          </a:xfrm>
          <a:prstGeom prst="rect">
            <a:avLst/>
          </a:prstGeom>
          <a:solidFill>
            <a:srgbClr val="EEEAFB"/>
          </a:solidFill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1000" b="1">
                <a:solidFill>
                  <a:srgbClr val="211248"/>
                </a:solidFill>
                <a:latin typeface="Arial"/>
              </a:rPr>
              <a:t>Stimuli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0000" y="4660000"/>
            <a:ext cx="3200000" cy="104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Email from a competitor reporting an intrusion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Email from a customer reporting suspicious access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Connection traces from the Group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Logs of internal account use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First speculation in the press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50000" y="4660000"/>
            <a:ext cx="3200000" cy="104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Evidence linking the attacks to the AI tool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Map of the agent's rights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Message from interns using the agent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Formal notice from the competitor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Question from a journalist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50000" y="4660000"/>
            <a:ext cx="3200000" cy="1040000"/>
          </a:xfrm>
          <a:prstGeom prst="rect">
            <a:avLst/>
          </a:prstGeom>
          <a:noFill/>
          <a:ln w="9525">
            <a:solidFill>
              <a:srgbClr val="D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Deployment of the defensive AI agent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New attempts by the agent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Article: "an AI out of control"</a:t>
            </a:r>
          </a:p>
          <a:p>
            <a:pPr algn="l"/>
            <a:r>
              <a:rPr sz="900" b="0">
                <a:solidFill>
                  <a:srgbClr val="211248"/>
                </a:solidFill>
                <a:latin typeface="Arial"/>
              </a:rPr>
              <a:t>Question from the regulator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120000"/>
            <a:ext cx="60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100" b="0">
                <a:solidFill>
                  <a:srgbClr val="5B576E"/>
                </a:solidFill>
                <a:latin typeface="Arial"/>
              </a:rPr>
              <a:t>Executive crisis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340000"/>
            <a:ext cx="11300000" cy="4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2400" b="1">
                <a:solidFill>
                  <a:srgbClr val="211248"/>
                </a:solidFill>
                <a:latin typeface="Arial"/>
              </a:rPr>
              <a:t>Debrief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0000" y="6500000"/>
            <a:ext cx="1300000" cy="22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r"/>
            <a:r>
              <a:rPr sz="800" b="0">
                <a:solidFill>
                  <a:srgbClr val="5B576E"/>
                </a:solidFill>
                <a:latin typeface="Arial"/>
              </a:rPr>
              <a:t>Fictitious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900000"/>
            <a:ext cx="11300000" cy="1500000"/>
          </a:xfrm>
          <a:prstGeom prst="rect">
            <a:avLst/>
          </a:prstGeom>
          <a:noFill/>
        </p:spPr>
        <p:txBody>
          <a:bodyPr wrap="square" anchor="t" lIns="70000" rIns="70000" tIns="40000" bIns="40000">
            <a:spAutoFit/>
          </a:bodyPr>
          <a:lstStyle/>
          <a:p>
            <a:pPr algn="l"/>
            <a:r>
              <a:rPr sz="1100" b="0">
                <a:solidFill>
                  <a:srgbClr val="211248"/>
                </a:solidFill>
                <a:latin typeface="Arial"/>
              </a:rPr>
              <a:t>Hot debrief (15 minutes): each player speaks, then the observers.</a:t>
            </a:r>
          </a:p>
          <a:p>
            <a:pPr algn="l"/>
            <a:r>
              <a:rPr sz="1100" b="0">
                <a:solidFill>
                  <a:srgbClr val="211248"/>
                </a:solidFill>
                <a:latin typeface="Arial"/>
              </a:rPr>
              <a:t>Evaluation sheet per learning objective: decision to stop the agent, legal qualification, communication stance, return to human control.</a:t>
            </a:r>
          </a:p>
          <a:p>
            <a:pPr algn="l"/>
            <a:r>
              <a:rPr sz="1100" b="0">
                <a:solidFill>
                  <a:srgbClr val="211248"/>
                </a:solidFill>
                <a:latin typeface="Arial"/>
              </a:rPr>
              <a:t>Cold debrief within three weeks: action plan (governance of AI agents, decision paths, notification procedure).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