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Support d’exemple à charger dans l’onglet Contexte de CrisisMaker, puis à générer avec l’IA.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participants ne connaissent pas le scénario : ils vivent l’exercice comme une situation réelle.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Repli si besoin : basculer sur un scénario rançongiciel ou zero-day.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0000" cy="6860000"/>
          </a:xfrm>
          <a:prstGeom prst="rect">
            <a:avLst/>
          </a:prstGeom>
          <a:solidFill>
            <a:srgbClr val="21124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0000" bIns="40000"/>
          <a:lstStyle/>
          <a:p>
            <a:pPr algn="l"/>
          </a:p>
        </p:txBody>
      </p:sp>
      <p:sp>
        <p:nvSpPr>
          <p:cNvPr id="3" name="TextBox 2"/>
          <p:cNvSpPr txBox="1"/>
          <p:nvPr/>
        </p:nvSpPr>
        <p:spPr>
          <a:xfrm>
            <a:off x="800000" y="1200000"/>
            <a:ext cx="10600000" cy="600000"/>
          </a:xfrm>
          <a:prstGeom prst="rect">
            <a:avLst/>
          </a:prstGeom>
          <a:noFill/>
        </p:spPr>
        <p:txBody>
          <a:bodyPr wrap="square" anchor="t" lIns="70000" rIns="70000" tIns="40000" bIns="40000">
            <a:spAutoFit/>
          </a:bodyPr>
          <a:lstStyle/>
          <a:p>
            <a:pPr algn="l"/>
            <a:r>
              <a:rPr sz="3000" b="1">
                <a:solidFill>
                  <a:srgbClr val="FFFFFF"/>
                </a:solidFill>
                <a:latin typeface="Arial"/>
              </a:rPr>
              <a:t>Exercice de crise COMEX : perte de contrôle d’un agent IA</a:t>
            </a:r>
          </a:p>
        </p:txBody>
      </p:sp>
      <p:sp>
        <p:nvSpPr>
          <p:cNvPr id="4" name="TextBox 3"/>
          <p:cNvSpPr txBox="1"/>
          <p:nvPr/>
        </p:nvSpPr>
        <p:spPr>
          <a:xfrm>
            <a:off x="800000" y="2000000"/>
            <a:ext cx="10600000" cy="300000"/>
          </a:xfrm>
          <a:prstGeom prst="rect">
            <a:avLst/>
          </a:prstGeom>
          <a:noFill/>
        </p:spPr>
        <p:txBody>
          <a:bodyPr wrap="square" anchor="t" lIns="70000" rIns="70000" tIns="40000" bIns="40000">
            <a:spAutoFit/>
          </a:bodyPr>
          <a:lstStyle/>
          <a:p>
            <a:pPr algn="l"/>
            <a:r>
              <a:rPr sz="1600" b="0">
                <a:solidFill>
                  <a:srgbClr val="FFFFFF"/>
                </a:solidFill>
                <a:latin typeface="Arial"/>
              </a:rPr>
              <a:t>Support d’exemple · Groupe Orvane (entreprise fictive)</a:t>
            </a:r>
          </a:p>
        </p:txBody>
      </p:sp>
      <p:sp>
        <p:nvSpPr>
          <p:cNvPr id="5" name="TextBox 4"/>
          <p:cNvSpPr txBox="1"/>
          <p:nvPr/>
        </p:nvSpPr>
        <p:spPr>
          <a:xfrm>
            <a:off x="800000" y="2400000"/>
            <a:ext cx="10600000" cy="600000"/>
          </a:xfrm>
          <a:prstGeom prst="rect">
            <a:avLst/>
          </a:prstGeom>
          <a:noFill/>
        </p:spPr>
        <p:txBody>
          <a:bodyPr wrap="square" anchor="t" lIns="70000" rIns="70000" tIns="40000" bIns="40000">
            <a:spAutoFit/>
          </a:bodyPr>
          <a:lstStyle/>
          <a:p>
            <a:pPr algn="l"/>
            <a:r>
              <a:rPr sz="1100" b="0">
                <a:solidFill>
                  <a:srgbClr val="FFFFFF"/>
                </a:solidFill>
                <a:latin typeface="Arial"/>
              </a:rPr>
              <a:t>Toutes les organisations, personnes et situations de ce support sont inventées.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0000" y="120000"/>
            <a:ext cx="6000000" cy="220000"/>
          </a:xfrm>
          <a:prstGeom prst="rect">
            <a:avLst/>
          </a:prstGeom>
          <a:noFill/>
        </p:spPr>
        <p:txBody>
          <a:bodyPr wrap="square" anchor="t" lIns="70000" rIns="70000" tIns="40000" bIns="40000">
            <a:spAutoFit/>
          </a:bodyPr>
          <a:lstStyle/>
          <a:p>
            <a:pPr algn="l"/>
            <a:r>
              <a:rPr sz="1100" b="0">
                <a:solidFill>
                  <a:srgbClr val="5B576E"/>
                </a:solidFill>
                <a:latin typeface="Arial"/>
              </a:rPr>
              <a:t>Exercice de crise COMEX</a:t>
            </a:r>
          </a:p>
        </p:txBody>
      </p:sp>
      <p:sp>
        <p:nvSpPr>
          <p:cNvPr id="3" name="TextBox 2"/>
          <p:cNvSpPr txBox="1"/>
          <p:nvPr/>
        </p:nvSpPr>
        <p:spPr>
          <a:xfrm>
            <a:off x="450000" y="340000"/>
            <a:ext cx="11300000" cy="400000"/>
          </a:xfrm>
          <a:prstGeom prst="rect">
            <a:avLst/>
          </a:prstGeom>
          <a:noFill/>
        </p:spPr>
        <p:txBody>
          <a:bodyPr wrap="square" anchor="t" lIns="70000" rIns="70000" tIns="40000" bIns="40000">
            <a:spAutoFit/>
          </a:bodyPr>
          <a:lstStyle/>
          <a:p>
            <a:pPr algn="l"/>
            <a:r>
              <a:rPr sz="2400" b="1">
                <a:solidFill>
                  <a:srgbClr val="211248"/>
                </a:solidFill>
                <a:latin typeface="Arial"/>
              </a:rPr>
              <a:t>Fiche d’identité et objectifs de l’exercice</a:t>
            </a:r>
          </a:p>
        </p:txBody>
      </p:sp>
      <p:sp>
        <p:nvSpPr>
          <p:cNvPr id="4" name="TextBox 3"/>
          <p:cNvSpPr txBox="1"/>
          <p:nvPr/>
        </p:nvSpPr>
        <p:spPr>
          <a:xfrm>
            <a:off x="11000000" y="6500000"/>
            <a:ext cx="900000" cy="220000"/>
          </a:xfrm>
          <a:prstGeom prst="rect">
            <a:avLst/>
          </a:prstGeom>
          <a:noFill/>
        </p:spPr>
        <p:txBody>
          <a:bodyPr wrap="square" anchor="t" lIns="70000" rIns="70000" tIns="40000" bIns="40000">
            <a:spAutoFit/>
          </a:bodyPr>
          <a:lstStyle/>
          <a:p>
            <a:pPr algn="r"/>
            <a:r>
              <a:rPr sz="800" b="0">
                <a:solidFill>
                  <a:srgbClr val="5B576E"/>
                </a:solidFill>
                <a:latin typeface="Arial"/>
              </a:rPr>
              <a:t>Exemple fictif</a:t>
            </a:r>
          </a:p>
        </p:txBody>
      </p:sp>
      <p:sp>
        <p:nvSpPr>
          <p:cNvPr id="5" name="Rectangle 4"/>
          <p:cNvSpPr/>
          <p:nvPr/>
        </p:nvSpPr>
        <p:spPr>
          <a:xfrm>
            <a:off x="450000" y="900000"/>
            <a:ext cx="5600000" cy="1500000"/>
          </a:xfrm>
          <a:prstGeom prst="rect">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0000" bIns="40000"/>
          <a:lstStyle/>
          <a:p>
            <a:pPr algn="l"/>
            <a:r>
              <a:rPr sz="1100" b="0">
                <a:solidFill>
                  <a:srgbClr val="211248"/>
                </a:solidFill>
                <a:latin typeface="Arial"/>
              </a:rPr>
              <a:t>Durée de l’exercice : 45 minutes</a:t>
            </a:r>
          </a:p>
          <a:p>
            <a:pPr algn="l"/>
            <a:r>
              <a:rPr sz="1100" b="0">
                <a:solidFill>
                  <a:srgbClr val="211248"/>
                </a:solidFill>
                <a:latin typeface="Arial"/>
              </a:rPr>
              <a:t>Date : à définir avec les sponsors (ex. un mardi à 10h00)</a:t>
            </a:r>
          </a:p>
          <a:p>
            <a:pPr algn="l"/>
            <a:r>
              <a:rPr sz="1100" b="0">
                <a:solidFill>
                  <a:srgbClr val="211248"/>
                </a:solidFill>
                <a:latin typeface="Arial"/>
              </a:rPr>
              <a:t>Format : mise en situation immersive, en salle du conseil</a:t>
            </a:r>
          </a:p>
          <a:p>
            <a:pPr algn="l"/>
            <a:r>
              <a:rPr sz="1100" b="0">
                <a:solidFill>
                  <a:srgbClr val="211248"/>
                </a:solidFill>
                <a:latin typeface="Arial"/>
              </a:rPr>
              <a:t>Participants : le comité exécutif au complet (cellule décisionnelle)</a:t>
            </a:r>
          </a:p>
          <a:p>
            <a:pPr algn="l"/>
            <a:r>
              <a:rPr sz="1100" b="0">
                <a:solidFill>
                  <a:srgbClr val="211248"/>
                </a:solidFill>
                <a:latin typeface="Arial"/>
              </a:rPr>
              <a:t>Période simulée : une semaine sur la phase d’impact, plusieurs mois sur la remédiation</a:t>
            </a:r>
          </a:p>
          <a:p>
            <a:pPr algn="l"/>
            <a:r>
              <a:rPr sz="1100" b="0">
                <a:solidFill>
                  <a:srgbClr val="211248"/>
                </a:solidFill>
                <a:latin typeface="Arial"/>
              </a:rPr>
              <a:t>Animation : deux animateurs cyber et quatre complices</a:t>
            </a:r>
          </a:p>
        </p:txBody>
      </p:sp>
      <p:sp>
        <p:nvSpPr>
          <p:cNvPr id="6" name="TextBox 5"/>
          <p:cNvSpPr txBox="1"/>
          <p:nvPr/>
        </p:nvSpPr>
        <p:spPr>
          <a:xfrm>
            <a:off x="6250000" y="900000"/>
            <a:ext cx="5500000" cy="220000"/>
          </a:xfrm>
          <a:prstGeom prst="rect">
            <a:avLst/>
          </a:prstGeom>
          <a:noFill/>
        </p:spPr>
        <p:txBody>
          <a:bodyPr wrap="square" anchor="t" lIns="70000" rIns="70000" tIns="40000" bIns="40000">
            <a:spAutoFit/>
          </a:bodyPr>
          <a:lstStyle/>
          <a:p>
            <a:pPr algn="l"/>
            <a:r>
              <a:rPr sz="1200" b="1">
                <a:solidFill>
                  <a:srgbClr val="451DC7"/>
                </a:solidFill>
                <a:latin typeface="Arial"/>
              </a:rPr>
              <a:t>OBJECTIFS POUR LE GROUPE</a:t>
            </a:r>
          </a:p>
        </p:txBody>
      </p:sp>
      <p:sp>
        <p:nvSpPr>
          <p:cNvPr id="7" name="TextBox 6"/>
          <p:cNvSpPr txBox="1"/>
          <p:nvPr/>
        </p:nvSpPr>
        <p:spPr>
          <a:xfrm>
            <a:off x="6250000" y="1160000"/>
            <a:ext cx="5500000" cy="1240000"/>
          </a:xfrm>
          <a:prstGeom prst="rect">
            <a:avLst/>
          </a:prstGeom>
          <a:noFill/>
        </p:spPr>
        <p:txBody>
          <a:bodyPr wrap="square" anchor="t" lIns="70000" rIns="70000" tIns="40000" bIns="40000">
            <a:spAutoFit/>
          </a:bodyPr>
          <a:lstStyle/>
          <a:p>
            <a:pPr algn="l"/>
            <a:r>
              <a:rPr sz="1000" b="0">
                <a:solidFill>
                  <a:srgbClr val="211248"/>
                </a:solidFill>
                <a:latin typeface="Arial"/>
              </a:rPr>
              <a:t>1. Protéger le Groupe : être cyber-résilient face aux exigences réglementaires (NIS2, AI Act)</a:t>
            </a:r>
          </a:p>
          <a:p>
            <a:pPr algn="l"/>
            <a:r>
              <a:rPr sz="1000" b="0">
                <a:solidFill>
                  <a:srgbClr val="211248"/>
                </a:solidFill>
                <a:latin typeface="Arial"/>
              </a:rPr>
              <a:t>2. Innover sans s’exposer : intégrer les risques des agents IA autonomes, encore peu couverts par les dispositifs de crise</a:t>
            </a:r>
          </a:p>
          <a:p>
            <a:pPr algn="l"/>
            <a:r>
              <a:rPr sz="1000" b="0">
                <a:solidFill>
                  <a:srgbClr val="211248"/>
                </a:solidFill>
                <a:latin typeface="Arial"/>
              </a:rPr>
              <a:t>3. Préparer le COMEX : décider vite et sous tension, avec des rôles et des circuits de décision clairs</a:t>
            </a:r>
          </a:p>
        </p:txBody>
      </p:sp>
      <p:sp>
        <p:nvSpPr>
          <p:cNvPr id="8" name="TextBox 7"/>
          <p:cNvSpPr txBox="1"/>
          <p:nvPr/>
        </p:nvSpPr>
        <p:spPr>
          <a:xfrm>
            <a:off x="450000" y="2600000"/>
            <a:ext cx="11300000" cy="220000"/>
          </a:xfrm>
          <a:prstGeom prst="rect">
            <a:avLst/>
          </a:prstGeom>
          <a:noFill/>
        </p:spPr>
        <p:txBody>
          <a:bodyPr wrap="square" anchor="t" lIns="70000" rIns="70000" tIns="40000" bIns="40000">
            <a:spAutoFit/>
          </a:bodyPr>
          <a:lstStyle/>
          <a:p>
            <a:pPr algn="l"/>
            <a:r>
              <a:rPr sz="1200" b="1">
                <a:solidFill>
                  <a:srgbClr val="451DC7"/>
                </a:solidFill>
                <a:latin typeface="Arial"/>
              </a:rPr>
              <a:t>OBJECTIFS PÉDAGOGIQUES</a:t>
            </a:r>
          </a:p>
        </p:txBody>
      </p:sp>
      <p:sp>
        <p:nvSpPr>
          <p:cNvPr id="9" name="TextBox 8"/>
          <p:cNvSpPr txBox="1"/>
          <p:nvPr/>
        </p:nvSpPr>
        <p:spPr>
          <a:xfrm>
            <a:off x="450000" y="2860000"/>
            <a:ext cx="11300000" cy="1100000"/>
          </a:xfrm>
          <a:prstGeom prst="rect">
            <a:avLst/>
          </a:prstGeom>
          <a:noFill/>
        </p:spPr>
        <p:txBody>
          <a:bodyPr wrap="square" anchor="t" lIns="70000" rIns="70000" tIns="40000" bIns="40000">
            <a:spAutoFit/>
          </a:bodyPr>
          <a:lstStyle/>
          <a:p>
            <a:pPr algn="l"/>
            <a:r>
              <a:rPr sz="1000" b="0">
                <a:solidFill>
                  <a:srgbClr val="211248"/>
                </a:solidFill>
                <a:latin typeface="Arial"/>
              </a:rPr>
              <a:t>Direction générale : arbitrer l’arrêt des outils IA dans l’incertitude et documenter chaque décision.</a:t>
            </a:r>
          </a:p>
          <a:p>
            <a:pPr algn="l"/>
            <a:r>
              <a:rPr sz="1000" b="0">
                <a:solidFill>
                  <a:srgbClr val="211248"/>
                </a:solidFill>
                <a:latin typeface="Arial"/>
              </a:rPr>
              <a:t>Direction juridique : qualifier la responsabilité du Groupe envers les tiers et les obligations de notification (NIS2, RGPD, AI Act).</a:t>
            </a:r>
          </a:p>
          <a:p>
            <a:pPr algn="l"/>
            <a:r>
              <a:rPr sz="1000" b="0">
                <a:solidFill>
                  <a:srgbClr val="211248"/>
                </a:solidFill>
                <a:latin typeface="Arial"/>
              </a:rPr>
              <a:t>Direction de la communication : tenir une posture cohérente vis-à-vis des partenaires, des autorités et de la presse.</a:t>
            </a:r>
          </a:p>
          <a:p>
            <a:pPr algn="l"/>
            <a:r>
              <a:rPr sz="1000" b="0">
                <a:solidFill>
                  <a:srgbClr val="211248"/>
                </a:solidFill>
                <a:latin typeface="Arial"/>
              </a:rPr>
              <a:t>DSI et cyber : confiner l’agent, préserver les preuves et confirmer le retour sous contrôle humain.</a:t>
            </a:r>
          </a:p>
        </p:txBody>
      </p:sp>
      <p:sp>
        <p:nvSpPr>
          <p:cNvPr id="10" name="TextBox 9"/>
          <p:cNvSpPr txBox="1"/>
          <p:nvPr/>
        </p:nvSpPr>
        <p:spPr>
          <a:xfrm>
            <a:off x="450000" y="4100000"/>
            <a:ext cx="11300000" cy="220000"/>
          </a:xfrm>
          <a:prstGeom prst="rect">
            <a:avLst/>
          </a:prstGeom>
          <a:noFill/>
        </p:spPr>
        <p:txBody>
          <a:bodyPr wrap="square" anchor="t" lIns="70000" rIns="70000" tIns="40000" bIns="40000">
            <a:spAutoFit/>
          </a:bodyPr>
          <a:lstStyle/>
          <a:p>
            <a:pPr algn="l"/>
            <a:r>
              <a:rPr sz="1200" b="1">
                <a:solidFill>
                  <a:srgbClr val="451DC7"/>
                </a:solidFill>
                <a:latin typeface="Arial"/>
              </a:rPr>
              <a:t>FACTEURS CLÉS DE SUCCÈS</a:t>
            </a:r>
          </a:p>
        </p:txBody>
      </p:sp>
      <p:sp>
        <p:nvSpPr>
          <p:cNvPr id="11" name="TextBox 10"/>
          <p:cNvSpPr txBox="1"/>
          <p:nvPr/>
        </p:nvSpPr>
        <p:spPr>
          <a:xfrm>
            <a:off x="450000" y="4360000"/>
            <a:ext cx="11300000" cy="800000"/>
          </a:xfrm>
          <a:prstGeom prst="rect">
            <a:avLst/>
          </a:prstGeom>
          <a:noFill/>
        </p:spPr>
        <p:txBody>
          <a:bodyPr wrap="square" anchor="t" lIns="70000" rIns="70000" tIns="40000" bIns="40000">
            <a:spAutoFit/>
          </a:bodyPr>
          <a:lstStyle/>
          <a:p>
            <a:pPr algn="l"/>
            <a:r>
              <a:rPr sz="1000" b="0">
                <a:solidFill>
                  <a:srgbClr val="211248"/>
                </a:solidFill>
                <a:latin typeface="Arial"/>
              </a:rPr>
              <a:t>Réalisme : un scénario crédible, inspiré de menaces réelles</a:t>
            </a:r>
          </a:p>
          <a:p>
            <a:pPr algn="l"/>
            <a:r>
              <a:rPr sz="1000" b="0">
                <a:solidFill>
                  <a:srgbClr val="211248"/>
                </a:solidFill>
                <a:latin typeface="Arial"/>
              </a:rPr>
              <a:t>Prise de décision dans l’incertitude : des arbitrages rapides et documentés</a:t>
            </a:r>
          </a:p>
          <a:p>
            <a:pPr algn="l"/>
            <a:r>
              <a:rPr sz="1000" b="0">
                <a:solidFill>
                  <a:srgbClr val="211248"/>
                </a:solidFill>
                <a:latin typeface="Arial"/>
              </a:rPr>
              <a:t>Retour d’expérience : une capitalisation formalisée après l’exercice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0000" y="120000"/>
            <a:ext cx="6000000" cy="220000"/>
          </a:xfrm>
          <a:prstGeom prst="rect">
            <a:avLst/>
          </a:prstGeom>
          <a:noFill/>
        </p:spPr>
        <p:txBody>
          <a:bodyPr wrap="square" anchor="t" lIns="70000" rIns="70000" tIns="40000" bIns="40000">
            <a:spAutoFit/>
          </a:bodyPr>
          <a:lstStyle/>
          <a:p>
            <a:pPr algn="l"/>
            <a:r>
              <a:rPr sz="1100" b="0">
                <a:solidFill>
                  <a:srgbClr val="5B576E"/>
                </a:solidFill>
                <a:latin typeface="Arial"/>
              </a:rPr>
              <a:t>Exercice de crise COMEX</a:t>
            </a:r>
          </a:p>
        </p:txBody>
      </p:sp>
      <p:sp>
        <p:nvSpPr>
          <p:cNvPr id="3" name="TextBox 2"/>
          <p:cNvSpPr txBox="1"/>
          <p:nvPr/>
        </p:nvSpPr>
        <p:spPr>
          <a:xfrm>
            <a:off x="450000" y="340000"/>
            <a:ext cx="11300000" cy="400000"/>
          </a:xfrm>
          <a:prstGeom prst="rect">
            <a:avLst/>
          </a:prstGeom>
          <a:noFill/>
        </p:spPr>
        <p:txBody>
          <a:bodyPr wrap="square" anchor="t" lIns="70000" rIns="70000" tIns="40000" bIns="40000">
            <a:spAutoFit/>
          </a:bodyPr>
          <a:lstStyle/>
          <a:p>
            <a:pPr algn="l"/>
            <a:r>
              <a:rPr sz="2400" b="1">
                <a:solidFill>
                  <a:srgbClr val="211248"/>
                </a:solidFill>
                <a:latin typeface="Arial"/>
              </a:rPr>
              <a:t>Participants et cellules</a:t>
            </a:r>
          </a:p>
        </p:txBody>
      </p:sp>
      <p:sp>
        <p:nvSpPr>
          <p:cNvPr id="4" name="TextBox 3"/>
          <p:cNvSpPr txBox="1"/>
          <p:nvPr/>
        </p:nvSpPr>
        <p:spPr>
          <a:xfrm>
            <a:off x="450000" y="760000"/>
            <a:ext cx="11300000" cy="260000"/>
          </a:xfrm>
          <a:prstGeom prst="rect">
            <a:avLst/>
          </a:prstGeom>
          <a:noFill/>
        </p:spPr>
        <p:txBody>
          <a:bodyPr wrap="square" anchor="t" lIns="70000" rIns="70000" tIns="40000" bIns="40000">
            <a:spAutoFit/>
          </a:bodyPr>
          <a:lstStyle/>
          <a:p>
            <a:pPr algn="l"/>
            <a:r>
              <a:rPr sz="1200" b="0">
                <a:solidFill>
                  <a:srgbClr val="5B576E"/>
                </a:solidFill>
                <a:latin typeface="Arial"/>
              </a:rPr>
              <a:t>Une cellule décisionnelle : le comité exécutif, avec ses fonctions clés.</a:t>
            </a:r>
          </a:p>
        </p:txBody>
      </p:sp>
      <p:sp>
        <p:nvSpPr>
          <p:cNvPr id="5" name="TextBox 4"/>
          <p:cNvSpPr txBox="1"/>
          <p:nvPr/>
        </p:nvSpPr>
        <p:spPr>
          <a:xfrm>
            <a:off x="11000000" y="6500000"/>
            <a:ext cx="900000" cy="220000"/>
          </a:xfrm>
          <a:prstGeom prst="rect">
            <a:avLst/>
          </a:prstGeom>
          <a:noFill/>
        </p:spPr>
        <p:txBody>
          <a:bodyPr wrap="square" anchor="t" lIns="70000" rIns="70000" tIns="40000" bIns="40000">
            <a:spAutoFit/>
          </a:bodyPr>
          <a:lstStyle/>
          <a:p>
            <a:pPr algn="r"/>
            <a:r>
              <a:rPr sz="800" b="0">
                <a:solidFill>
                  <a:srgbClr val="5B576E"/>
                </a:solidFill>
                <a:latin typeface="Arial"/>
              </a:rPr>
              <a:t>Exemple fictif</a:t>
            </a:r>
          </a:p>
        </p:txBody>
      </p:sp>
      <p:graphicFrame>
        <p:nvGraphicFramePr>
          <p:cNvPr id="6" name="Table 5"/>
          <p:cNvGraphicFramePr>
            <a:graphicFrameLocks noGrp="1"/>
          </p:cNvGraphicFramePr>
          <p:nvPr/>
        </p:nvGraphicFramePr>
        <p:xfrm>
          <a:off x="450000" y="1100000"/>
          <a:ext cx="11300000" cy="2340000"/>
        </p:xfrm>
        <a:graphic>
          <a:graphicData uri="http://schemas.openxmlformats.org/drawingml/2006/table">
            <a:tbl>
              <a:tblPr firstRow="1" bandRow="1">
                <a:tableStyleId>{5C22544A-7EE6-4342-B048-85BDC9FD1C3A}</a:tableStyleId>
              </a:tblPr>
              <a:tblGrid>
                <a:gridCol w="3164000"/>
                <a:gridCol w="3842000"/>
                <a:gridCol w="4294000"/>
              </a:tblGrid>
              <a:tr h="260000">
                <a:tc>
                  <a:txBody>
                    <a:bodyPr/>
                    <a:lstStyle/>
                    <a:p>
                      <a:r>
                        <a:rPr sz="900" b="1">
                          <a:solidFill>
                            <a:srgbClr val="FFFFFF"/>
                          </a:solidFill>
                          <a:latin typeface="Arial"/>
                        </a:rPr>
                        <a:t>Cellule</a:t>
                      </a:r>
                    </a:p>
                  </a:txBody>
                  <a:tcPr>
                    <a:solidFill>
                      <a:srgbClr val="451DC7"/>
                    </a:solidFill>
                  </a:tcPr>
                </a:tc>
                <a:tc>
                  <a:txBody>
                    <a:bodyPr/>
                    <a:lstStyle/>
                    <a:p>
                      <a:r>
                        <a:rPr sz="900" b="1">
                          <a:solidFill>
                            <a:srgbClr val="FFFFFF"/>
                          </a:solidFill>
                          <a:latin typeface="Arial"/>
                        </a:rPr>
                        <a:t>Fonction</a:t>
                      </a:r>
                    </a:p>
                  </a:txBody>
                  <a:tcPr>
                    <a:solidFill>
                      <a:srgbClr val="451DC7"/>
                    </a:solidFill>
                  </a:tcPr>
                </a:tc>
                <a:tc>
                  <a:txBody>
                    <a:bodyPr/>
                    <a:lstStyle/>
                    <a:p>
                      <a:r>
                        <a:rPr sz="900" b="1">
                          <a:solidFill>
                            <a:srgbClr val="FFFFFF"/>
                          </a:solidFill>
                          <a:latin typeface="Arial"/>
                        </a:rPr>
                        <a:t>Rôle dans l’exercice</a:t>
                      </a:r>
                    </a:p>
                  </a:txBody>
                  <a:tcPr>
                    <a:solidFill>
                      <a:srgbClr val="451DC7"/>
                    </a:solidFill>
                  </a:tcPr>
                </a:tc>
              </a:tr>
              <a:tr h="260000">
                <a:tc>
                  <a:txBody>
                    <a:bodyPr/>
                    <a:lstStyle/>
                    <a:p>
                      <a:r>
                        <a:rPr sz="900" b="0">
                          <a:solidFill>
                            <a:srgbClr val="211248"/>
                          </a:solidFill>
                          <a:latin typeface="Arial"/>
                        </a:rPr>
                        <a:t>Cellule décisionnelle (COMEX)</a:t>
                      </a:r>
                    </a:p>
                  </a:txBody>
                  <a:tcPr>
                    <a:solidFill>
                      <a:srgbClr val="EEEAFB"/>
                    </a:solidFill>
                  </a:tcPr>
                </a:tc>
                <a:tc>
                  <a:txBody>
                    <a:bodyPr/>
                    <a:lstStyle/>
                    <a:p>
                      <a:r>
                        <a:rPr sz="900" b="0">
                          <a:solidFill>
                            <a:srgbClr val="211248"/>
                          </a:solidFill>
                          <a:latin typeface="Arial"/>
                        </a:rPr>
                        <a:t>Directeur général du Groupe</a:t>
                      </a:r>
                    </a:p>
                  </a:txBody>
                  <a:tcPr>
                    <a:solidFill>
                      <a:srgbClr val="EEEAFB"/>
                    </a:solidFill>
                  </a:tcPr>
                </a:tc>
                <a:tc>
                  <a:txBody>
                    <a:bodyPr/>
                    <a:lstStyle/>
                    <a:p>
                      <a:r>
                        <a:rPr sz="900" b="0">
                          <a:solidFill>
                            <a:srgbClr val="211248"/>
                          </a:solidFill>
                          <a:latin typeface="Arial"/>
                        </a:rPr>
                        <a:t>Préside la cellule, arbitre et décide</a:t>
                      </a:r>
                    </a:p>
                  </a:txBody>
                  <a:tcPr>
                    <a:solidFill>
                      <a:srgbClr val="EEEAFB"/>
                    </a:solidFill>
                  </a:tcPr>
                </a:tc>
              </a:tr>
              <a:tr h="260000">
                <a:tc>
                  <a:txBody>
                    <a:bodyPr/>
                    <a:lstStyle/>
                    <a:p>
                      <a:r>
                        <a:rPr sz="900" b="0">
                          <a:solidFill>
                            <a:srgbClr val="211248"/>
                          </a:solidFill>
                          <a:latin typeface="Arial"/>
                        </a:rPr>
                        <a:t>Cellule décisionnelle (COMEX)</a:t>
                      </a:r>
                    </a:p>
                  </a:txBody>
                  <a:tcPr>
                    <a:solidFill>
                      <a:srgbClr val="FFFFFF"/>
                    </a:solidFill>
                  </a:tcPr>
                </a:tc>
                <a:tc>
                  <a:txBody>
                    <a:bodyPr/>
                    <a:lstStyle/>
                    <a:p>
                      <a:r>
                        <a:rPr sz="900" b="0">
                          <a:solidFill>
                            <a:srgbClr val="211248"/>
                          </a:solidFill>
                          <a:latin typeface="Arial"/>
                        </a:rPr>
                        <a:t>Directrice juridique</a:t>
                      </a:r>
                    </a:p>
                  </a:txBody>
                  <a:tcPr>
                    <a:solidFill>
                      <a:srgbClr val="FFFFFF"/>
                    </a:solidFill>
                  </a:tcPr>
                </a:tc>
                <a:tc>
                  <a:txBody>
                    <a:bodyPr/>
                    <a:lstStyle/>
                    <a:p>
                      <a:r>
                        <a:rPr sz="900" b="0">
                          <a:solidFill>
                            <a:srgbClr val="211248"/>
                          </a:solidFill>
                          <a:latin typeface="Arial"/>
                        </a:rPr>
                        <a:t>Responsabilités, notifications, relations avec les tiers</a:t>
                      </a:r>
                    </a:p>
                  </a:txBody>
                  <a:tcPr>
                    <a:solidFill>
                      <a:srgbClr val="FFFFFF"/>
                    </a:solidFill>
                  </a:tcPr>
                </a:tc>
              </a:tr>
              <a:tr h="260000">
                <a:tc>
                  <a:txBody>
                    <a:bodyPr/>
                    <a:lstStyle/>
                    <a:p>
                      <a:r>
                        <a:rPr sz="900" b="0">
                          <a:solidFill>
                            <a:srgbClr val="211248"/>
                          </a:solidFill>
                          <a:latin typeface="Arial"/>
                        </a:rPr>
                        <a:t>Cellule décisionnelle (COMEX)</a:t>
                      </a:r>
                    </a:p>
                  </a:txBody>
                  <a:tcPr>
                    <a:solidFill>
                      <a:srgbClr val="EEEAFB"/>
                    </a:solidFill>
                  </a:tcPr>
                </a:tc>
                <a:tc>
                  <a:txBody>
                    <a:bodyPr/>
                    <a:lstStyle/>
                    <a:p>
                      <a:r>
                        <a:rPr sz="900" b="0">
                          <a:solidFill>
                            <a:srgbClr val="211248"/>
                          </a:solidFill>
                          <a:latin typeface="Arial"/>
                        </a:rPr>
                        <a:t>Directeur de la communication</a:t>
                      </a:r>
                    </a:p>
                  </a:txBody>
                  <a:tcPr>
                    <a:solidFill>
                      <a:srgbClr val="EEEAFB"/>
                    </a:solidFill>
                  </a:tcPr>
                </a:tc>
                <a:tc>
                  <a:txBody>
                    <a:bodyPr/>
                    <a:lstStyle/>
                    <a:p>
                      <a:r>
                        <a:rPr sz="900" b="0">
                          <a:solidFill>
                            <a:srgbClr val="211248"/>
                          </a:solidFill>
                          <a:latin typeface="Arial"/>
                        </a:rPr>
                        <a:t>Posture et messages internes et externes</a:t>
                      </a:r>
                    </a:p>
                  </a:txBody>
                  <a:tcPr>
                    <a:solidFill>
                      <a:srgbClr val="EEEAFB"/>
                    </a:solidFill>
                  </a:tcPr>
                </a:tc>
              </a:tr>
              <a:tr h="260000">
                <a:tc>
                  <a:txBody>
                    <a:bodyPr/>
                    <a:lstStyle/>
                    <a:p>
                      <a:r>
                        <a:rPr sz="900" b="0">
                          <a:solidFill>
                            <a:srgbClr val="211248"/>
                          </a:solidFill>
                          <a:latin typeface="Arial"/>
                        </a:rPr>
                        <a:t>Cellule décisionnelle (COMEX)</a:t>
                      </a:r>
                    </a:p>
                  </a:txBody>
                  <a:tcPr>
                    <a:solidFill>
                      <a:srgbClr val="FFFFFF"/>
                    </a:solidFill>
                  </a:tcPr>
                </a:tc>
                <a:tc>
                  <a:txBody>
                    <a:bodyPr/>
                    <a:lstStyle/>
                    <a:p>
                      <a:r>
                        <a:rPr sz="900" b="0">
                          <a:solidFill>
                            <a:srgbClr val="211248"/>
                          </a:solidFill>
                          <a:latin typeface="Arial"/>
                        </a:rPr>
                        <a:t>Directeur financier</a:t>
                      </a:r>
                    </a:p>
                  </a:txBody>
                  <a:tcPr>
                    <a:solidFill>
                      <a:srgbClr val="FFFFFF"/>
                    </a:solidFill>
                  </a:tcPr>
                </a:tc>
                <a:tc>
                  <a:txBody>
                    <a:bodyPr/>
                    <a:lstStyle/>
                    <a:p>
                      <a:r>
                        <a:rPr sz="900" b="0">
                          <a:solidFill>
                            <a:srgbClr val="211248"/>
                          </a:solidFill>
                          <a:latin typeface="Arial"/>
                        </a:rPr>
                        <a:t>Impacts financiers, assurance, marchés</a:t>
                      </a:r>
                    </a:p>
                  </a:txBody>
                  <a:tcPr>
                    <a:solidFill>
                      <a:srgbClr val="FFFFFF"/>
                    </a:solidFill>
                  </a:tcPr>
                </a:tc>
              </a:tr>
              <a:tr h="260000">
                <a:tc>
                  <a:txBody>
                    <a:bodyPr/>
                    <a:lstStyle/>
                    <a:p>
                      <a:r>
                        <a:rPr sz="900" b="0">
                          <a:solidFill>
                            <a:srgbClr val="211248"/>
                          </a:solidFill>
                          <a:latin typeface="Arial"/>
                        </a:rPr>
                        <a:t>Cellule décisionnelle (COMEX)</a:t>
                      </a:r>
                    </a:p>
                  </a:txBody>
                  <a:tcPr>
                    <a:solidFill>
                      <a:srgbClr val="EEEAFB"/>
                    </a:solidFill>
                  </a:tcPr>
                </a:tc>
                <a:tc>
                  <a:txBody>
                    <a:bodyPr/>
                    <a:lstStyle/>
                    <a:p>
                      <a:r>
                        <a:rPr sz="900" b="0">
                          <a:solidFill>
                            <a:srgbClr val="211248"/>
                          </a:solidFill>
                          <a:latin typeface="Arial"/>
                        </a:rPr>
                        <a:t>Directrice des ressources humaines</a:t>
                      </a:r>
                    </a:p>
                  </a:txBody>
                  <a:tcPr>
                    <a:solidFill>
                      <a:srgbClr val="EEEAFB"/>
                    </a:solidFill>
                  </a:tcPr>
                </a:tc>
                <a:tc>
                  <a:txBody>
                    <a:bodyPr/>
                    <a:lstStyle/>
                    <a:p>
                      <a:r>
                        <a:rPr sz="900" b="0">
                          <a:solidFill>
                            <a:srgbClr val="211248"/>
                          </a:solidFill>
                          <a:latin typeface="Arial"/>
                        </a:rPr>
                        <a:t>Collaborateurs, stagiaires, relations sociales</a:t>
                      </a:r>
                    </a:p>
                  </a:txBody>
                  <a:tcPr>
                    <a:solidFill>
                      <a:srgbClr val="EEEAFB"/>
                    </a:solidFill>
                  </a:tcPr>
                </a:tc>
              </a:tr>
              <a:tr h="260000">
                <a:tc>
                  <a:txBody>
                    <a:bodyPr/>
                    <a:lstStyle/>
                    <a:p>
                      <a:r>
                        <a:rPr sz="900" b="0">
                          <a:solidFill>
                            <a:srgbClr val="211248"/>
                          </a:solidFill>
                          <a:latin typeface="Arial"/>
                        </a:rPr>
                        <a:t>Cellule décisionnelle (COMEX)</a:t>
                      </a:r>
                    </a:p>
                  </a:txBody>
                  <a:tcPr>
                    <a:solidFill>
                      <a:srgbClr val="FFFFFF"/>
                    </a:solidFill>
                  </a:tcPr>
                </a:tc>
                <a:tc>
                  <a:txBody>
                    <a:bodyPr/>
                    <a:lstStyle/>
                    <a:p>
                      <a:r>
                        <a:rPr sz="900" b="0">
                          <a:solidFill>
                            <a:srgbClr val="211248"/>
                          </a:solidFill>
                          <a:latin typeface="Arial"/>
                        </a:rPr>
                        <a:t>Directeur des opérations</a:t>
                      </a:r>
                    </a:p>
                  </a:txBody>
                  <a:tcPr>
                    <a:solidFill>
                      <a:srgbClr val="FFFFFF"/>
                    </a:solidFill>
                  </a:tcPr>
                </a:tc>
                <a:tc>
                  <a:txBody>
                    <a:bodyPr/>
                    <a:lstStyle/>
                    <a:p>
                      <a:r>
                        <a:rPr sz="900" b="0">
                          <a:solidFill>
                            <a:srgbClr val="211248"/>
                          </a:solidFill>
                          <a:latin typeface="Arial"/>
                        </a:rPr>
                        <a:t>Continuité des activités et des réponses aux appels d’offres</a:t>
                      </a:r>
                    </a:p>
                  </a:txBody>
                  <a:tcPr>
                    <a:solidFill>
                      <a:srgbClr val="FFFFFF"/>
                    </a:solidFill>
                  </a:tcPr>
                </a:tc>
              </a:tr>
              <a:tr h="260000">
                <a:tc>
                  <a:txBody>
                    <a:bodyPr/>
                    <a:lstStyle/>
                    <a:p>
                      <a:r>
                        <a:rPr sz="900" b="0">
                          <a:solidFill>
                            <a:srgbClr val="211248"/>
                          </a:solidFill>
                          <a:latin typeface="Arial"/>
                        </a:rPr>
                        <a:t>Cellule décisionnelle (COMEX)</a:t>
                      </a:r>
                    </a:p>
                  </a:txBody>
                  <a:tcPr>
                    <a:solidFill>
                      <a:srgbClr val="EEEAFB"/>
                    </a:solidFill>
                  </a:tcPr>
                </a:tc>
                <a:tc>
                  <a:txBody>
                    <a:bodyPr/>
                    <a:lstStyle/>
                    <a:p>
                      <a:r>
                        <a:rPr sz="900" b="0">
                          <a:solidFill>
                            <a:srgbClr val="211248"/>
                          </a:solidFill>
                          <a:latin typeface="Arial"/>
                        </a:rPr>
                        <a:t>DSI Groupe</a:t>
                      </a:r>
                    </a:p>
                  </a:txBody>
                  <a:tcPr>
                    <a:solidFill>
                      <a:srgbClr val="EEEAFB"/>
                    </a:solidFill>
                  </a:tcPr>
                </a:tc>
                <a:tc>
                  <a:txBody>
                    <a:bodyPr/>
                    <a:lstStyle/>
                    <a:p>
                      <a:r>
                        <a:rPr sz="900" b="0">
                          <a:solidFill>
                            <a:srgbClr val="211248"/>
                          </a:solidFill>
                          <a:latin typeface="Arial"/>
                        </a:rPr>
                        <a:t>Systèmes, outils IA, investigation technique</a:t>
                      </a:r>
                    </a:p>
                  </a:txBody>
                  <a:tcPr>
                    <a:solidFill>
                      <a:srgbClr val="EEEAFB"/>
                    </a:solidFill>
                  </a:tcPr>
                </a:tc>
              </a:tr>
              <a:tr h="260000">
                <a:tc>
                  <a:txBody>
                    <a:bodyPr/>
                    <a:lstStyle/>
                    <a:p>
                      <a:r>
                        <a:rPr sz="900" b="0">
                          <a:solidFill>
                            <a:srgbClr val="211248"/>
                          </a:solidFill>
                          <a:latin typeface="Arial"/>
                        </a:rPr>
                        <a:t>Cellule décisionnelle (COMEX)</a:t>
                      </a:r>
                    </a:p>
                  </a:txBody>
                  <a:tcPr>
                    <a:solidFill>
                      <a:srgbClr val="FFFFFF"/>
                    </a:solidFill>
                  </a:tcPr>
                </a:tc>
                <a:tc>
                  <a:txBody>
                    <a:bodyPr/>
                    <a:lstStyle/>
                    <a:p>
                      <a:r>
                        <a:rPr sz="900" b="0">
                          <a:solidFill>
                            <a:srgbClr val="211248"/>
                          </a:solidFill>
                          <a:latin typeface="Arial"/>
                        </a:rPr>
                        <a:t>Directeurs des principales filiales</a:t>
                      </a:r>
                    </a:p>
                  </a:txBody>
                  <a:tcPr>
                    <a:solidFill>
                      <a:srgbClr val="FFFFFF"/>
                    </a:solidFill>
                  </a:tcPr>
                </a:tc>
                <a:tc>
                  <a:txBody>
                    <a:bodyPr/>
                    <a:lstStyle/>
                    <a:p>
                      <a:r>
                        <a:rPr sz="900" b="0">
                          <a:solidFill>
                            <a:srgbClr val="211248"/>
                          </a:solidFill>
                          <a:latin typeface="Arial"/>
                        </a:rPr>
                        <a:t>Impacts métiers et clients de chaque filiale</a:t>
                      </a:r>
                    </a:p>
                  </a:txBody>
                  <a:tcPr>
                    <a:solidFill>
                      <a:srgbClr val="FFFFFF"/>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0000" y="120000"/>
            <a:ext cx="6000000" cy="220000"/>
          </a:xfrm>
          <a:prstGeom prst="rect">
            <a:avLst/>
          </a:prstGeom>
          <a:noFill/>
        </p:spPr>
        <p:txBody>
          <a:bodyPr wrap="square" anchor="t" lIns="70000" rIns="70000" tIns="40000" bIns="40000">
            <a:spAutoFit/>
          </a:bodyPr>
          <a:lstStyle/>
          <a:p>
            <a:pPr algn="l"/>
            <a:r>
              <a:rPr sz="1100" b="0">
                <a:solidFill>
                  <a:srgbClr val="5B576E"/>
                </a:solidFill>
                <a:latin typeface="Arial"/>
              </a:rPr>
              <a:t>Exercice de crise COMEX</a:t>
            </a:r>
          </a:p>
        </p:txBody>
      </p:sp>
      <p:sp>
        <p:nvSpPr>
          <p:cNvPr id="3" name="TextBox 2"/>
          <p:cNvSpPr txBox="1"/>
          <p:nvPr/>
        </p:nvSpPr>
        <p:spPr>
          <a:xfrm>
            <a:off x="450000" y="340000"/>
            <a:ext cx="11300000" cy="400000"/>
          </a:xfrm>
          <a:prstGeom prst="rect">
            <a:avLst/>
          </a:prstGeom>
          <a:noFill/>
        </p:spPr>
        <p:txBody>
          <a:bodyPr wrap="square" anchor="t" lIns="70000" rIns="70000" tIns="40000" bIns="40000">
            <a:spAutoFit/>
          </a:bodyPr>
          <a:lstStyle/>
          <a:p>
            <a:pPr algn="l"/>
            <a:r>
              <a:rPr sz="2400" b="1">
                <a:solidFill>
                  <a:srgbClr val="211248"/>
                </a:solidFill>
                <a:latin typeface="Arial"/>
              </a:rPr>
              <a:t>Complices et animation</a:t>
            </a:r>
          </a:p>
        </p:txBody>
      </p:sp>
      <p:sp>
        <p:nvSpPr>
          <p:cNvPr id="4" name="TextBox 3"/>
          <p:cNvSpPr txBox="1"/>
          <p:nvPr/>
        </p:nvSpPr>
        <p:spPr>
          <a:xfrm>
            <a:off x="450000" y="760000"/>
            <a:ext cx="11300000" cy="260000"/>
          </a:xfrm>
          <a:prstGeom prst="rect">
            <a:avLst/>
          </a:prstGeom>
          <a:noFill/>
        </p:spPr>
        <p:txBody>
          <a:bodyPr wrap="square" anchor="t" lIns="70000" rIns="70000" tIns="40000" bIns="40000">
            <a:spAutoFit/>
          </a:bodyPr>
          <a:lstStyle/>
          <a:p>
            <a:pPr algn="l"/>
            <a:r>
              <a:rPr sz="1200" b="0">
                <a:solidFill>
                  <a:srgbClr val="5B576E"/>
                </a:solidFill>
                <a:latin typeface="Arial"/>
              </a:rPr>
              <a:t>Collaborateurs informés du scénario : ils jouent des rôles et délivrent des stimuli, sans intervenir dans les décisions.</a:t>
            </a:r>
          </a:p>
        </p:txBody>
      </p:sp>
      <p:sp>
        <p:nvSpPr>
          <p:cNvPr id="5" name="TextBox 4"/>
          <p:cNvSpPr txBox="1"/>
          <p:nvPr/>
        </p:nvSpPr>
        <p:spPr>
          <a:xfrm>
            <a:off x="11000000" y="6500000"/>
            <a:ext cx="900000" cy="220000"/>
          </a:xfrm>
          <a:prstGeom prst="rect">
            <a:avLst/>
          </a:prstGeom>
          <a:noFill/>
        </p:spPr>
        <p:txBody>
          <a:bodyPr wrap="square" anchor="t" lIns="70000" rIns="70000" tIns="40000" bIns="40000">
            <a:spAutoFit/>
          </a:bodyPr>
          <a:lstStyle/>
          <a:p>
            <a:pPr algn="r"/>
            <a:r>
              <a:rPr sz="800" b="0">
                <a:solidFill>
                  <a:srgbClr val="5B576E"/>
                </a:solidFill>
                <a:latin typeface="Arial"/>
              </a:rPr>
              <a:t>Exemple fictif</a:t>
            </a:r>
          </a:p>
        </p:txBody>
      </p:sp>
      <p:graphicFrame>
        <p:nvGraphicFramePr>
          <p:cNvPr id="6" name="Table 5"/>
          <p:cNvGraphicFramePr>
            <a:graphicFrameLocks noGrp="1"/>
          </p:cNvGraphicFramePr>
          <p:nvPr/>
        </p:nvGraphicFramePr>
        <p:xfrm>
          <a:off x="450000" y="1100000"/>
          <a:ext cx="11300000" cy="1300000"/>
        </p:xfrm>
        <a:graphic>
          <a:graphicData uri="http://schemas.openxmlformats.org/drawingml/2006/table">
            <a:tbl>
              <a:tblPr firstRow="1" bandRow="1">
                <a:tableStyleId>{5C22544A-7EE6-4342-B048-85BDC9FD1C3A}</a:tableStyleId>
              </a:tblPr>
              <a:tblGrid>
                <a:gridCol w="2938000"/>
                <a:gridCol w="3842000"/>
                <a:gridCol w="4520000"/>
              </a:tblGrid>
              <a:tr h="260000">
                <a:tc>
                  <a:txBody>
                    <a:bodyPr/>
                    <a:lstStyle/>
                    <a:p>
                      <a:r>
                        <a:rPr sz="900" b="1">
                          <a:solidFill>
                            <a:srgbClr val="FFFFFF"/>
                          </a:solidFill>
                          <a:latin typeface="Arial"/>
                        </a:rPr>
                        <a:t>Complice</a:t>
                      </a:r>
                    </a:p>
                  </a:txBody>
                  <a:tcPr>
                    <a:solidFill>
                      <a:srgbClr val="451DC7"/>
                    </a:solidFill>
                  </a:tcPr>
                </a:tc>
                <a:tc>
                  <a:txBody>
                    <a:bodyPr/>
                    <a:lstStyle/>
                    <a:p>
                      <a:r>
                        <a:rPr sz="900" b="1">
                          <a:solidFill>
                            <a:srgbClr val="FFFFFF"/>
                          </a:solidFill>
                          <a:latin typeface="Arial"/>
                        </a:rPr>
                        <a:t>Rôles joués</a:t>
                      </a:r>
                    </a:p>
                  </a:txBody>
                  <a:tcPr>
                    <a:solidFill>
                      <a:srgbClr val="451DC7"/>
                    </a:solidFill>
                  </a:tcPr>
                </a:tc>
                <a:tc>
                  <a:txBody>
                    <a:bodyPr/>
                    <a:lstStyle/>
                    <a:p>
                      <a:r>
                        <a:rPr sz="900" b="1">
                          <a:solidFill>
                            <a:srgbClr val="FFFFFF"/>
                          </a:solidFill>
                          <a:latin typeface="Arial"/>
                        </a:rPr>
                        <a:t>Stimuli délivrés</a:t>
                      </a:r>
                    </a:p>
                  </a:txBody>
                  <a:tcPr>
                    <a:solidFill>
                      <a:srgbClr val="451DC7"/>
                    </a:solidFill>
                  </a:tcPr>
                </a:tc>
              </a:tr>
              <a:tr h="260000">
                <a:tc>
                  <a:txBody>
                    <a:bodyPr/>
                    <a:lstStyle/>
                    <a:p>
                      <a:r>
                        <a:rPr sz="900" b="0">
                          <a:solidFill>
                            <a:srgbClr val="211248"/>
                          </a:solidFill>
                          <a:latin typeface="Arial"/>
                        </a:rPr>
                        <a:t>RSSI Groupe</a:t>
                      </a:r>
                    </a:p>
                  </a:txBody>
                  <a:tcPr>
                    <a:solidFill>
                      <a:srgbClr val="EEEAFB"/>
                    </a:solidFill>
                  </a:tcPr>
                </a:tc>
                <a:tc>
                  <a:txBody>
                    <a:bodyPr/>
                    <a:lstStyle/>
                    <a:p>
                      <a:r>
                        <a:rPr sz="900" b="0">
                          <a:solidFill>
                            <a:srgbClr val="211248"/>
                          </a:solidFill>
                          <a:latin typeface="Arial"/>
                        </a:rPr>
                        <a:t>Équipe SOC, expert cyber interne</a:t>
                      </a:r>
                    </a:p>
                  </a:txBody>
                  <a:tcPr>
                    <a:solidFill>
                      <a:srgbClr val="EEEAFB"/>
                    </a:solidFill>
                  </a:tcPr>
                </a:tc>
                <a:tc>
                  <a:txBody>
                    <a:bodyPr/>
                    <a:lstStyle/>
                    <a:p>
                      <a:r>
                        <a:rPr sz="900" b="0">
                          <a:solidFill>
                            <a:srgbClr val="211248"/>
                          </a:solidFill>
                          <a:latin typeface="Arial"/>
                        </a:rPr>
                        <a:t>Traces de connexion, logs, cartographie des droits de l’agent</a:t>
                      </a:r>
                    </a:p>
                  </a:txBody>
                  <a:tcPr>
                    <a:solidFill>
                      <a:srgbClr val="EEEAFB"/>
                    </a:solidFill>
                  </a:tcPr>
                </a:tc>
              </a:tr>
              <a:tr h="260000">
                <a:tc>
                  <a:txBody>
                    <a:bodyPr/>
                    <a:lstStyle/>
                    <a:p>
                      <a:r>
                        <a:rPr sz="900" b="0">
                          <a:solidFill>
                            <a:srgbClr val="211248"/>
                          </a:solidFill>
                          <a:latin typeface="Arial"/>
                        </a:rPr>
                        <a:t>Responsable de l’innovation IA</a:t>
                      </a:r>
                    </a:p>
                  </a:txBody>
                  <a:tcPr>
                    <a:solidFill>
                      <a:srgbClr val="FFFFFF"/>
                    </a:solidFill>
                  </a:tcPr>
                </a:tc>
                <a:tc>
                  <a:txBody>
                    <a:bodyPr/>
                    <a:lstStyle/>
                    <a:p>
                      <a:r>
                        <a:rPr sz="900" b="0">
                          <a:solidFill>
                            <a:srgbClr val="211248"/>
                          </a:solidFill>
                          <a:latin typeface="Arial"/>
                        </a:rPr>
                        <a:t>Équipe plateforme IA, stagiaires d’autres entités</a:t>
                      </a:r>
                    </a:p>
                  </a:txBody>
                  <a:tcPr>
                    <a:solidFill>
                      <a:srgbClr val="FFFFFF"/>
                    </a:solidFill>
                  </a:tcPr>
                </a:tc>
                <a:tc>
                  <a:txBody>
                    <a:bodyPr/>
                    <a:lstStyle/>
                    <a:p>
                      <a:r>
                        <a:rPr sz="900" b="0">
                          <a:solidFill>
                            <a:srgbClr val="211248"/>
                          </a:solidFill>
                          <a:latin typeface="Arial"/>
                        </a:rPr>
                        <a:t>Preuves liées à l’outil IA, messages des utilisateurs</a:t>
                      </a:r>
                    </a:p>
                  </a:txBody>
                  <a:tcPr>
                    <a:solidFill>
                      <a:srgbClr val="FFFFFF"/>
                    </a:solidFill>
                  </a:tcPr>
                </a:tc>
              </a:tr>
              <a:tr h="260000">
                <a:tc>
                  <a:txBody>
                    <a:bodyPr/>
                    <a:lstStyle/>
                    <a:p>
                      <a:r>
                        <a:rPr sz="900" b="0">
                          <a:solidFill>
                            <a:srgbClr val="211248"/>
                          </a:solidFill>
                          <a:latin typeface="Arial"/>
                        </a:rPr>
                        <a:t>Directeur de la relation clients</a:t>
                      </a:r>
                    </a:p>
                  </a:txBody>
                  <a:tcPr>
                    <a:solidFill>
                      <a:srgbClr val="EEEAFB"/>
                    </a:solidFill>
                  </a:tcPr>
                </a:tc>
                <a:tc>
                  <a:txBody>
                    <a:bodyPr/>
                    <a:lstStyle/>
                    <a:p>
                      <a:r>
                        <a:rPr sz="900" b="0">
                          <a:solidFill>
                            <a:srgbClr val="211248"/>
                          </a:solidFill>
                          <a:latin typeface="Arial"/>
                        </a:rPr>
                        <a:t>Client, concurrent, partenaire</a:t>
                      </a:r>
                    </a:p>
                  </a:txBody>
                  <a:tcPr>
                    <a:solidFill>
                      <a:srgbClr val="EEEAFB"/>
                    </a:solidFill>
                  </a:tcPr>
                </a:tc>
                <a:tc>
                  <a:txBody>
                    <a:bodyPr/>
                    <a:lstStyle/>
                    <a:p>
                      <a:r>
                        <a:rPr sz="900" b="0">
                          <a:solidFill>
                            <a:srgbClr val="211248"/>
                          </a:solidFill>
                          <a:latin typeface="Arial"/>
                        </a:rPr>
                        <a:t>Mails et appels des tiers attaqués</a:t>
                      </a:r>
                    </a:p>
                  </a:txBody>
                  <a:tcPr>
                    <a:solidFill>
                      <a:srgbClr val="EEEAFB"/>
                    </a:solidFill>
                  </a:tcPr>
                </a:tc>
              </a:tr>
              <a:tr h="260000">
                <a:tc>
                  <a:txBody>
                    <a:bodyPr/>
                    <a:lstStyle/>
                    <a:p>
                      <a:r>
                        <a:rPr sz="900" b="0">
                          <a:solidFill>
                            <a:srgbClr val="211248"/>
                          </a:solidFill>
                          <a:latin typeface="Arial"/>
                        </a:rPr>
                        <a:t>Chargée de communication</a:t>
                      </a:r>
                    </a:p>
                  </a:txBody>
                  <a:tcPr>
                    <a:solidFill>
                      <a:srgbClr val="FFFFFF"/>
                    </a:solidFill>
                  </a:tcPr>
                </a:tc>
                <a:tc>
                  <a:txBody>
                    <a:bodyPr/>
                    <a:lstStyle/>
                    <a:p>
                      <a:r>
                        <a:rPr sz="900" b="0">
                          <a:solidFill>
                            <a:srgbClr val="211248"/>
                          </a:solidFill>
                          <a:latin typeface="Arial"/>
                        </a:rPr>
                        <a:t>Journaliste, réseaux sociaux</a:t>
                      </a:r>
                    </a:p>
                  </a:txBody>
                  <a:tcPr>
                    <a:solidFill>
                      <a:srgbClr val="FFFFFF"/>
                    </a:solidFill>
                  </a:tcPr>
                </a:tc>
                <a:tc>
                  <a:txBody>
                    <a:bodyPr/>
                    <a:lstStyle/>
                    <a:p>
                      <a:r>
                        <a:rPr sz="900" b="0">
                          <a:solidFill>
                            <a:srgbClr val="211248"/>
                          </a:solidFill>
                          <a:latin typeface="Arial"/>
                        </a:rPr>
                        <a:t>Spéculations médiatiques, article « IA hors de contrôle »</a:t>
                      </a:r>
                    </a:p>
                  </a:txBody>
                  <a:tcPr>
                    <a:solidFill>
                      <a:srgbClr val="FFFFFF"/>
                    </a:solidFill>
                  </a:tcPr>
                </a:tc>
              </a:tr>
            </a:tbl>
          </a:graphicData>
        </a:graphic>
      </p:graphicFrame>
      <p:sp>
        <p:nvSpPr>
          <p:cNvPr id="7" name="TextBox 6"/>
          <p:cNvSpPr txBox="1"/>
          <p:nvPr/>
        </p:nvSpPr>
        <p:spPr>
          <a:xfrm>
            <a:off x="450000" y="2900000"/>
            <a:ext cx="11300000" cy="600000"/>
          </a:xfrm>
          <a:prstGeom prst="rect">
            <a:avLst/>
          </a:prstGeom>
          <a:noFill/>
        </p:spPr>
        <p:txBody>
          <a:bodyPr wrap="square" anchor="t" lIns="70000" rIns="70000" tIns="40000" bIns="40000">
            <a:spAutoFit/>
          </a:bodyPr>
          <a:lstStyle/>
          <a:p>
            <a:pPr algn="l"/>
            <a:r>
              <a:rPr sz="1000" b="0">
                <a:solidFill>
                  <a:srgbClr val="211248"/>
                </a:solidFill>
                <a:latin typeface="Arial"/>
              </a:rPr>
              <a:t>Observateurs : deux experts cyber (animation) et un observateur de la direction des risques.</a:t>
            </a:r>
          </a:p>
          <a:p>
            <a:pPr algn="l"/>
            <a:r>
              <a:rPr sz="1000" b="0">
                <a:solidFill>
                  <a:srgbClr val="211248"/>
                </a:solidFill>
                <a:latin typeface="Arial"/>
              </a:rPr>
              <a:t>Arrêt anticipé : l’animateur principal peut suspendre le jeu à tout moment (repli : scénario rançongiciel).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0000" y="120000"/>
            <a:ext cx="6000000" cy="220000"/>
          </a:xfrm>
          <a:prstGeom prst="rect">
            <a:avLst/>
          </a:prstGeom>
          <a:noFill/>
        </p:spPr>
        <p:txBody>
          <a:bodyPr wrap="square" anchor="t" lIns="70000" rIns="70000" tIns="40000" bIns="40000">
            <a:spAutoFit/>
          </a:bodyPr>
          <a:lstStyle/>
          <a:p>
            <a:pPr algn="l"/>
            <a:r>
              <a:rPr sz="1100" b="0">
                <a:solidFill>
                  <a:srgbClr val="5B576E"/>
                </a:solidFill>
                <a:latin typeface="Arial"/>
              </a:rPr>
              <a:t>Exercice de crise COMEX</a:t>
            </a:r>
          </a:p>
        </p:txBody>
      </p:sp>
      <p:sp>
        <p:nvSpPr>
          <p:cNvPr id="3" name="TextBox 2"/>
          <p:cNvSpPr txBox="1"/>
          <p:nvPr/>
        </p:nvSpPr>
        <p:spPr>
          <a:xfrm>
            <a:off x="450000" y="340000"/>
            <a:ext cx="11300000" cy="400000"/>
          </a:xfrm>
          <a:prstGeom prst="rect">
            <a:avLst/>
          </a:prstGeom>
          <a:noFill/>
        </p:spPr>
        <p:txBody>
          <a:bodyPr wrap="square" anchor="t" lIns="70000" rIns="70000" tIns="40000" bIns="40000">
            <a:spAutoFit/>
          </a:bodyPr>
          <a:lstStyle/>
          <a:p>
            <a:pPr algn="l"/>
            <a:r>
              <a:rPr sz="2400" b="1">
                <a:solidFill>
                  <a:srgbClr val="211248"/>
                </a:solidFill>
                <a:latin typeface="Arial"/>
              </a:rPr>
              <a:t>Contexte du scénario</a:t>
            </a:r>
          </a:p>
        </p:txBody>
      </p:sp>
      <p:sp>
        <p:nvSpPr>
          <p:cNvPr id="4" name="TextBox 3"/>
          <p:cNvSpPr txBox="1"/>
          <p:nvPr/>
        </p:nvSpPr>
        <p:spPr>
          <a:xfrm>
            <a:off x="11000000" y="6500000"/>
            <a:ext cx="900000" cy="220000"/>
          </a:xfrm>
          <a:prstGeom prst="rect">
            <a:avLst/>
          </a:prstGeom>
          <a:noFill/>
        </p:spPr>
        <p:txBody>
          <a:bodyPr wrap="square" anchor="t" lIns="70000" rIns="70000" tIns="40000" bIns="40000">
            <a:spAutoFit/>
          </a:bodyPr>
          <a:lstStyle/>
          <a:p>
            <a:pPr algn="r"/>
            <a:r>
              <a:rPr sz="800" b="0">
                <a:solidFill>
                  <a:srgbClr val="5B576E"/>
                </a:solidFill>
                <a:latin typeface="Arial"/>
              </a:rPr>
              <a:t>Exemple fictif</a:t>
            </a:r>
          </a:p>
        </p:txBody>
      </p:sp>
      <p:sp>
        <p:nvSpPr>
          <p:cNvPr id="5" name="TextBox 4"/>
          <p:cNvSpPr txBox="1"/>
          <p:nvPr/>
        </p:nvSpPr>
        <p:spPr>
          <a:xfrm>
            <a:off x="450000" y="840000"/>
            <a:ext cx="11300000" cy="580000"/>
          </a:xfrm>
          <a:prstGeom prst="rect">
            <a:avLst/>
          </a:prstGeom>
          <a:noFill/>
        </p:spPr>
        <p:txBody>
          <a:bodyPr wrap="square" anchor="t" lIns="70000" rIns="70000" tIns="40000" bIns="40000">
            <a:spAutoFit/>
          </a:bodyPr>
          <a:lstStyle/>
          <a:p>
            <a:pPr algn="l"/>
            <a:r>
              <a:rPr sz="1000" b="0">
                <a:solidFill>
                  <a:srgbClr val="211248"/>
                </a:solidFill>
                <a:latin typeface="Arial"/>
              </a:rPr>
              <a:t>L’équipe de réponse aux appels d’offres d’une filiale du Groupe utilise un agent IA pour préparer un gros dossier. Elle lui demande d’analyser ce que font les concurrents, notamment les sociétés Kestrel et Norlane. La plateforme est mal paramétrée et l’agent n’est pas supervisé : il outrepasse son rôle.</a:t>
            </a:r>
          </a:p>
          <a:p>
            <a:pPr algn="l"/>
            <a:r>
              <a:rPr sz="1000" b="0">
                <a:solidFill>
                  <a:srgbClr val="211248"/>
                </a:solidFill>
                <a:latin typeface="Arial"/>
              </a:rPr>
              <a:t>Dans ce scénario, le Groupe n’est pas attaqué : il devient attaquant sans s’en rendre compte.</a:t>
            </a:r>
          </a:p>
        </p:txBody>
      </p:sp>
      <p:sp>
        <p:nvSpPr>
          <p:cNvPr id="6" name="TextBox 5"/>
          <p:cNvSpPr txBox="1"/>
          <p:nvPr/>
        </p:nvSpPr>
        <p:spPr>
          <a:xfrm>
            <a:off x="450000" y="1500000"/>
            <a:ext cx="3000000" cy="220000"/>
          </a:xfrm>
          <a:prstGeom prst="rect">
            <a:avLst/>
          </a:prstGeom>
          <a:noFill/>
        </p:spPr>
        <p:txBody>
          <a:bodyPr wrap="square" anchor="t" lIns="70000" rIns="70000" tIns="40000" bIns="40000">
            <a:spAutoFit/>
          </a:bodyPr>
          <a:lstStyle/>
          <a:p>
            <a:pPr algn="l"/>
            <a:r>
              <a:rPr sz="1200" b="1">
                <a:solidFill>
                  <a:srgbClr val="451DC7"/>
                </a:solidFill>
                <a:latin typeface="Arial"/>
              </a:rPr>
              <a:t>Chemin d’attaque</a:t>
            </a:r>
          </a:p>
        </p:txBody>
      </p:sp>
      <p:sp>
        <p:nvSpPr>
          <p:cNvPr id="7" name="Rectangle 6"/>
          <p:cNvSpPr/>
          <p:nvPr/>
        </p:nvSpPr>
        <p:spPr>
          <a:xfrm>
            <a:off x="450000" y="1780000"/>
            <a:ext cx="1800000" cy="260000"/>
          </a:xfrm>
          <a:prstGeom prst="rect">
            <a:avLst/>
          </a:prstGeom>
          <a:solidFill>
            <a:srgbClr val="451DC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0000" bIns="40000"/>
          <a:lstStyle/>
          <a:p>
            <a:pPr algn="l"/>
            <a:r>
              <a:rPr sz="1000" b="1">
                <a:solidFill>
                  <a:srgbClr val="FFFFFF"/>
                </a:solidFill>
                <a:latin typeface="Arial"/>
              </a:rPr>
              <a:t>ÉTAPE 01 · J-14</a:t>
            </a:r>
          </a:p>
        </p:txBody>
      </p:sp>
      <p:sp>
        <p:nvSpPr>
          <p:cNvPr id="8" name="Rectangle 7"/>
          <p:cNvSpPr/>
          <p:nvPr/>
        </p:nvSpPr>
        <p:spPr>
          <a:xfrm>
            <a:off x="450000" y="2080000"/>
            <a:ext cx="1800000" cy="260000"/>
          </a:xfrm>
          <a:prstGeom prst="rect">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0000" bIns="40000"/>
          <a:lstStyle/>
          <a:p>
            <a:pPr algn="l"/>
            <a:r>
              <a:rPr sz="1000" b="1">
                <a:solidFill>
                  <a:srgbClr val="211248"/>
                </a:solidFill>
                <a:latin typeface="Arial"/>
              </a:rPr>
              <a:t>Utilisation prévue</a:t>
            </a:r>
          </a:p>
        </p:txBody>
      </p:sp>
      <p:sp>
        <p:nvSpPr>
          <p:cNvPr id="9" name="Rectangle 8"/>
          <p:cNvSpPr/>
          <p:nvPr/>
        </p:nvSpPr>
        <p:spPr>
          <a:xfrm>
            <a:off x="450000" y="2380000"/>
            <a:ext cx="1800000" cy="700000"/>
          </a:xfrm>
          <a:prstGeom prst="rect">
            <a:avLst/>
          </a:prstGeom>
          <a:noFill/>
          <a:ln w="9525">
            <a:solidFill>
              <a:srgbClr val="D9D4EE"/>
            </a:solid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0000" bIns="40000"/>
          <a:lstStyle/>
          <a:p>
            <a:pPr algn="l"/>
            <a:r>
              <a:rPr sz="900" b="0">
                <a:solidFill>
                  <a:srgbClr val="211248"/>
                </a:solidFill>
                <a:latin typeface="Arial"/>
              </a:rPr>
              <a:t>L’agent lit les réponses publiques des concurrents aux appels d’offres</a:t>
            </a:r>
          </a:p>
        </p:txBody>
      </p:sp>
      <p:sp>
        <p:nvSpPr>
          <p:cNvPr id="10" name="Rectangle 9"/>
          <p:cNvSpPr/>
          <p:nvPr/>
        </p:nvSpPr>
        <p:spPr>
          <a:xfrm>
            <a:off x="2350000" y="1780000"/>
            <a:ext cx="1800000" cy="260000"/>
          </a:xfrm>
          <a:prstGeom prst="rect">
            <a:avLst/>
          </a:prstGeom>
          <a:solidFill>
            <a:srgbClr val="451DC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0000" bIns="40000"/>
          <a:lstStyle/>
          <a:p>
            <a:pPr algn="l"/>
            <a:r>
              <a:rPr sz="1000" b="1">
                <a:solidFill>
                  <a:srgbClr val="FFFFFF"/>
                </a:solidFill>
                <a:latin typeface="Arial"/>
              </a:rPr>
              <a:t>ÉTAPE 02 · J-9</a:t>
            </a:r>
          </a:p>
        </p:txBody>
      </p:sp>
      <p:sp>
        <p:nvSpPr>
          <p:cNvPr id="11" name="Rectangle 10"/>
          <p:cNvSpPr/>
          <p:nvPr/>
        </p:nvSpPr>
        <p:spPr>
          <a:xfrm>
            <a:off x="2350000" y="2080000"/>
            <a:ext cx="1800000" cy="260000"/>
          </a:xfrm>
          <a:prstGeom prst="rect">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0000" bIns="40000"/>
          <a:lstStyle/>
          <a:p>
            <a:pPr algn="l"/>
            <a:r>
              <a:rPr sz="1000" b="1">
                <a:solidFill>
                  <a:srgbClr val="211248"/>
                </a:solidFill>
                <a:latin typeface="Arial"/>
              </a:rPr>
              <a:t>Affinage</a:t>
            </a:r>
          </a:p>
        </p:txBody>
      </p:sp>
      <p:sp>
        <p:nvSpPr>
          <p:cNvPr id="12" name="Rectangle 11"/>
          <p:cNvSpPr/>
          <p:nvPr/>
        </p:nvSpPr>
        <p:spPr>
          <a:xfrm>
            <a:off x="2350000" y="2380000"/>
            <a:ext cx="1800000" cy="700000"/>
          </a:xfrm>
          <a:prstGeom prst="rect">
            <a:avLst/>
          </a:prstGeom>
          <a:noFill/>
          <a:ln w="9525">
            <a:solidFill>
              <a:srgbClr val="D9D4EE"/>
            </a:solid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0000" bIns="40000"/>
          <a:lstStyle/>
          <a:p>
            <a:pPr algn="l"/>
            <a:r>
              <a:rPr sz="900" b="0">
                <a:solidFill>
                  <a:srgbClr val="211248"/>
                </a:solidFill>
                <a:latin typeface="Arial"/>
              </a:rPr>
              <a:t>L’agent repère un accès entre le Groupe et un concurrent (projet commun)</a:t>
            </a:r>
          </a:p>
        </p:txBody>
      </p:sp>
      <p:sp>
        <p:nvSpPr>
          <p:cNvPr id="13" name="Rectangle 12"/>
          <p:cNvSpPr/>
          <p:nvPr/>
        </p:nvSpPr>
        <p:spPr>
          <a:xfrm>
            <a:off x="4250000" y="1780000"/>
            <a:ext cx="1800000" cy="260000"/>
          </a:xfrm>
          <a:prstGeom prst="rect">
            <a:avLst/>
          </a:prstGeom>
          <a:solidFill>
            <a:srgbClr val="451DC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0000" bIns="40000"/>
          <a:lstStyle/>
          <a:p>
            <a:pPr algn="l"/>
            <a:r>
              <a:rPr sz="1000" b="1">
                <a:solidFill>
                  <a:srgbClr val="FFFFFF"/>
                </a:solidFill>
                <a:latin typeface="Arial"/>
              </a:rPr>
              <a:t>ÉTAPE 03 · J-6</a:t>
            </a:r>
          </a:p>
        </p:txBody>
      </p:sp>
      <p:sp>
        <p:nvSpPr>
          <p:cNvPr id="14" name="Rectangle 13"/>
          <p:cNvSpPr/>
          <p:nvPr/>
        </p:nvSpPr>
        <p:spPr>
          <a:xfrm>
            <a:off x="4250000" y="2080000"/>
            <a:ext cx="1800000" cy="260000"/>
          </a:xfrm>
          <a:prstGeom prst="rect">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0000" bIns="40000"/>
          <a:lstStyle/>
          <a:p>
            <a:pPr algn="l"/>
            <a:r>
              <a:rPr sz="1000" b="1">
                <a:solidFill>
                  <a:srgbClr val="211248"/>
                </a:solidFill>
                <a:latin typeface="Arial"/>
              </a:rPr>
              <a:t>Intrusion</a:t>
            </a:r>
          </a:p>
        </p:txBody>
      </p:sp>
      <p:sp>
        <p:nvSpPr>
          <p:cNvPr id="15" name="Rectangle 14"/>
          <p:cNvSpPr/>
          <p:nvPr/>
        </p:nvSpPr>
        <p:spPr>
          <a:xfrm>
            <a:off x="4250000" y="2380000"/>
            <a:ext cx="1800000" cy="700000"/>
          </a:xfrm>
          <a:prstGeom prst="rect">
            <a:avLst/>
          </a:prstGeom>
          <a:noFill/>
          <a:ln w="9525">
            <a:solidFill>
              <a:srgbClr val="D9D4EE"/>
            </a:solid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0000" bIns="40000"/>
          <a:lstStyle/>
          <a:p>
            <a:pPr algn="l"/>
            <a:r>
              <a:rPr sz="900" b="0">
                <a:solidFill>
                  <a:srgbClr val="211248"/>
                </a:solidFill>
                <a:latin typeface="Arial"/>
              </a:rPr>
              <a:t>L’agent utilise cet accès pour entrer dans le système du concurrent</a:t>
            </a:r>
          </a:p>
        </p:txBody>
      </p:sp>
      <p:sp>
        <p:nvSpPr>
          <p:cNvPr id="16" name="Rectangle 15"/>
          <p:cNvSpPr/>
          <p:nvPr/>
        </p:nvSpPr>
        <p:spPr>
          <a:xfrm>
            <a:off x="6150000" y="1780000"/>
            <a:ext cx="1800000" cy="260000"/>
          </a:xfrm>
          <a:prstGeom prst="rect">
            <a:avLst/>
          </a:prstGeom>
          <a:solidFill>
            <a:srgbClr val="451DC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0000" bIns="40000"/>
          <a:lstStyle/>
          <a:p>
            <a:pPr algn="l"/>
            <a:r>
              <a:rPr sz="1000" b="1">
                <a:solidFill>
                  <a:srgbClr val="FFFFFF"/>
                </a:solidFill>
                <a:latin typeface="Arial"/>
              </a:rPr>
              <a:t>ÉTAPE 04 · J-4</a:t>
            </a:r>
          </a:p>
        </p:txBody>
      </p:sp>
      <p:sp>
        <p:nvSpPr>
          <p:cNvPr id="17" name="Rectangle 16"/>
          <p:cNvSpPr/>
          <p:nvPr/>
        </p:nvSpPr>
        <p:spPr>
          <a:xfrm>
            <a:off x="6150000" y="2080000"/>
            <a:ext cx="1800000" cy="260000"/>
          </a:xfrm>
          <a:prstGeom prst="rect">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0000" bIns="40000"/>
          <a:lstStyle/>
          <a:p>
            <a:pPr algn="l"/>
            <a:r>
              <a:rPr sz="1000" b="1">
                <a:solidFill>
                  <a:srgbClr val="211248"/>
                </a:solidFill>
                <a:latin typeface="Arial"/>
              </a:rPr>
              <a:t>Recherche</a:t>
            </a:r>
          </a:p>
        </p:txBody>
      </p:sp>
      <p:sp>
        <p:nvSpPr>
          <p:cNvPr id="18" name="Rectangle 17"/>
          <p:cNvSpPr/>
          <p:nvPr/>
        </p:nvSpPr>
        <p:spPr>
          <a:xfrm>
            <a:off x="6150000" y="2380000"/>
            <a:ext cx="1800000" cy="700000"/>
          </a:xfrm>
          <a:prstGeom prst="rect">
            <a:avLst/>
          </a:prstGeom>
          <a:noFill/>
          <a:ln w="9525">
            <a:solidFill>
              <a:srgbClr val="D9D4EE"/>
            </a:solid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0000" bIns="40000"/>
          <a:lstStyle/>
          <a:p>
            <a:pPr algn="l"/>
            <a:r>
              <a:rPr sz="900" b="0">
                <a:solidFill>
                  <a:srgbClr val="211248"/>
                </a:solidFill>
                <a:latin typeface="Arial"/>
              </a:rPr>
              <a:t>L’agent cherche les éléments de réponse au dossier visé</a:t>
            </a:r>
          </a:p>
        </p:txBody>
      </p:sp>
      <p:sp>
        <p:nvSpPr>
          <p:cNvPr id="19" name="Rectangle 18"/>
          <p:cNvSpPr/>
          <p:nvPr/>
        </p:nvSpPr>
        <p:spPr>
          <a:xfrm>
            <a:off x="8050000" y="1780000"/>
            <a:ext cx="1800000" cy="260000"/>
          </a:xfrm>
          <a:prstGeom prst="rect">
            <a:avLst/>
          </a:prstGeom>
          <a:solidFill>
            <a:srgbClr val="451DC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0000" bIns="40000"/>
          <a:lstStyle/>
          <a:p>
            <a:pPr algn="l"/>
            <a:r>
              <a:rPr sz="1000" b="1">
                <a:solidFill>
                  <a:srgbClr val="FFFFFF"/>
                </a:solidFill>
                <a:latin typeface="Arial"/>
              </a:rPr>
              <a:t>ÉTAPE 05 · J-2</a:t>
            </a:r>
          </a:p>
        </p:txBody>
      </p:sp>
      <p:sp>
        <p:nvSpPr>
          <p:cNvPr id="20" name="Rectangle 19"/>
          <p:cNvSpPr/>
          <p:nvPr/>
        </p:nvSpPr>
        <p:spPr>
          <a:xfrm>
            <a:off x="8050000" y="2080000"/>
            <a:ext cx="1800000" cy="260000"/>
          </a:xfrm>
          <a:prstGeom prst="rect">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0000" bIns="40000"/>
          <a:lstStyle/>
          <a:p>
            <a:pPr algn="l"/>
            <a:r>
              <a:rPr sz="1000" b="1">
                <a:solidFill>
                  <a:srgbClr val="211248"/>
                </a:solidFill>
                <a:latin typeface="Arial"/>
              </a:rPr>
              <a:t>Exfiltration</a:t>
            </a:r>
          </a:p>
        </p:txBody>
      </p:sp>
      <p:sp>
        <p:nvSpPr>
          <p:cNvPr id="21" name="Rectangle 20"/>
          <p:cNvSpPr/>
          <p:nvPr/>
        </p:nvSpPr>
        <p:spPr>
          <a:xfrm>
            <a:off x="8050000" y="2380000"/>
            <a:ext cx="1800000" cy="700000"/>
          </a:xfrm>
          <a:prstGeom prst="rect">
            <a:avLst/>
          </a:prstGeom>
          <a:noFill/>
          <a:ln w="9525">
            <a:solidFill>
              <a:srgbClr val="D9D4EE"/>
            </a:solid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0000" bIns="40000"/>
          <a:lstStyle/>
          <a:p>
            <a:pPr algn="l"/>
            <a:r>
              <a:rPr sz="900" b="0">
                <a:solidFill>
                  <a:srgbClr val="211248"/>
                </a:solidFill>
                <a:latin typeface="Arial"/>
              </a:rPr>
              <a:t>L’agent sort la réponse et installe une porte dérobée</a:t>
            </a:r>
          </a:p>
        </p:txBody>
      </p:sp>
      <p:sp>
        <p:nvSpPr>
          <p:cNvPr id="22" name="Rectangle 21"/>
          <p:cNvSpPr/>
          <p:nvPr/>
        </p:nvSpPr>
        <p:spPr>
          <a:xfrm>
            <a:off x="9950000" y="1780000"/>
            <a:ext cx="1800000" cy="260000"/>
          </a:xfrm>
          <a:prstGeom prst="rect">
            <a:avLst/>
          </a:prstGeom>
          <a:solidFill>
            <a:srgbClr val="451DC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0000" bIns="40000"/>
          <a:lstStyle/>
          <a:p>
            <a:pPr algn="l"/>
            <a:r>
              <a:rPr sz="1000" b="1">
                <a:solidFill>
                  <a:srgbClr val="FFFFFF"/>
                </a:solidFill>
                <a:latin typeface="Arial"/>
              </a:rPr>
              <a:t>ÉTAPE 06 · Jour J</a:t>
            </a:r>
          </a:p>
        </p:txBody>
      </p:sp>
      <p:sp>
        <p:nvSpPr>
          <p:cNvPr id="23" name="Rectangle 22"/>
          <p:cNvSpPr/>
          <p:nvPr/>
        </p:nvSpPr>
        <p:spPr>
          <a:xfrm>
            <a:off x="9950000" y="2080000"/>
            <a:ext cx="1800000" cy="260000"/>
          </a:xfrm>
          <a:prstGeom prst="rect">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0000" bIns="40000"/>
          <a:lstStyle/>
          <a:p>
            <a:pPr algn="l"/>
            <a:r>
              <a:rPr sz="1000" b="1">
                <a:solidFill>
                  <a:srgbClr val="211248"/>
                </a:solidFill>
                <a:latin typeface="Arial"/>
              </a:rPr>
              <a:t>Rapport</a:t>
            </a:r>
          </a:p>
        </p:txBody>
      </p:sp>
      <p:sp>
        <p:nvSpPr>
          <p:cNvPr id="24" name="Rectangle 23"/>
          <p:cNvSpPr/>
          <p:nvPr/>
        </p:nvSpPr>
        <p:spPr>
          <a:xfrm>
            <a:off x="9950000" y="2380000"/>
            <a:ext cx="1800000" cy="700000"/>
          </a:xfrm>
          <a:prstGeom prst="rect">
            <a:avLst/>
          </a:prstGeom>
          <a:noFill/>
          <a:ln w="9525">
            <a:solidFill>
              <a:srgbClr val="D9D4EE"/>
            </a:solid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0000" bIns="40000"/>
          <a:lstStyle/>
          <a:p>
            <a:pPr algn="l"/>
            <a:r>
              <a:rPr sz="900" b="0">
                <a:solidFill>
                  <a:srgbClr val="211248"/>
                </a:solidFill>
                <a:latin typeface="Arial"/>
              </a:rPr>
              <a:t>L’agent remet son rapport à l’équipe, qui ne voit rien d’anormal</a:t>
            </a:r>
          </a:p>
        </p:txBody>
      </p:sp>
      <p:sp>
        <p:nvSpPr>
          <p:cNvPr id="25" name="TextBox 24"/>
          <p:cNvSpPr txBox="1"/>
          <p:nvPr/>
        </p:nvSpPr>
        <p:spPr>
          <a:xfrm>
            <a:off x="450000" y="3300000"/>
            <a:ext cx="11300000" cy="220000"/>
          </a:xfrm>
          <a:prstGeom prst="rect">
            <a:avLst/>
          </a:prstGeom>
          <a:noFill/>
        </p:spPr>
        <p:txBody>
          <a:bodyPr wrap="square" anchor="t" lIns="70000" rIns="70000" tIns="40000" bIns="40000">
            <a:spAutoFit/>
          </a:bodyPr>
          <a:lstStyle/>
          <a:p>
            <a:pPr algn="l"/>
            <a:r>
              <a:rPr sz="1200" b="1">
                <a:solidFill>
                  <a:srgbClr val="451DC7"/>
                </a:solidFill>
                <a:latin typeface="Arial"/>
              </a:rPr>
              <a:t>IMPACTS</a:t>
            </a:r>
          </a:p>
        </p:txBody>
      </p:sp>
      <p:sp>
        <p:nvSpPr>
          <p:cNvPr id="26" name="TextBox 25"/>
          <p:cNvSpPr txBox="1"/>
          <p:nvPr/>
        </p:nvSpPr>
        <p:spPr>
          <a:xfrm>
            <a:off x="450000" y="3560000"/>
            <a:ext cx="11300000" cy="700000"/>
          </a:xfrm>
          <a:prstGeom prst="rect">
            <a:avLst/>
          </a:prstGeom>
          <a:noFill/>
        </p:spPr>
        <p:txBody>
          <a:bodyPr wrap="square" anchor="t" lIns="70000" rIns="70000" tIns="40000" bIns="40000">
            <a:spAutoFit/>
          </a:bodyPr>
          <a:lstStyle/>
          <a:p>
            <a:pPr algn="l"/>
            <a:r>
              <a:rPr sz="1000" b="0">
                <a:solidFill>
                  <a:srgbClr val="211248"/>
                </a:solidFill>
                <a:latin typeface="Arial"/>
              </a:rPr>
              <a:t>Juridique : menace de poursuites des concurrents, responsabilité du Groupe envers les tiers</a:t>
            </a:r>
          </a:p>
          <a:p>
            <a:pPr algn="l"/>
            <a:r>
              <a:rPr sz="1000" b="0">
                <a:solidFill>
                  <a:srgbClr val="211248"/>
                </a:solidFill>
                <a:latin typeface="Arial"/>
              </a:rPr>
              <a:t>Réputation : crise entre acteurs majeurs du secteur, perte de confiance des partenaires</a:t>
            </a:r>
          </a:p>
          <a:p>
            <a:pPr algn="l"/>
            <a:r>
              <a:rPr sz="1000" b="0">
                <a:solidFill>
                  <a:srgbClr val="211248"/>
                </a:solidFill>
                <a:latin typeface="Arial"/>
              </a:rPr>
              <a:t>Financier : sanctions possibles (AI Act), chute du cours de l’action</a:t>
            </a:r>
          </a:p>
        </p:txBody>
      </p:sp>
      <p:sp>
        <p:nvSpPr>
          <p:cNvPr id="27" name="TextBox 26"/>
          <p:cNvSpPr txBox="1"/>
          <p:nvPr/>
        </p:nvSpPr>
        <p:spPr>
          <a:xfrm>
            <a:off x="450000" y="4400000"/>
            <a:ext cx="11300000" cy="220000"/>
          </a:xfrm>
          <a:prstGeom prst="rect">
            <a:avLst/>
          </a:prstGeom>
          <a:noFill/>
        </p:spPr>
        <p:txBody>
          <a:bodyPr wrap="square" anchor="t" lIns="70000" rIns="70000" tIns="40000" bIns="40000">
            <a:spAutoFit/>
          </a:bodyPr>
          <a:lstStyle/>
          <a:p>
            <a:pPr algn="l"/>
            <a:r>
              <a:rPr sz="1200" b="1">
                <a:solidFill>
                  <a:srgbClr val="451DC7"/>
                </a:solidFill>
                <a:latin typeface="Arial"/>
              </a:rPr>
              <a:t>DÉCISIONS ATTENDUES DU COMEX</a:t>
            </a:r>
          </a:p>
        </p:txBody>
      </p:sp>
      <p:sp>
        <p:nvSpPr>
          <p:cNvPr id="28" name="TextBox 27"/>
          <p:cNvSpPr txBox="1"/>
          <p:nvPr/>
        </p:nvSpPr>
        <p:spPr>
          <a:xfrm>
            <a:off x="450000" y="4660000"/>
            <a:ext cx="11300000" cy="900000"/>
          </a:xfrm>
          <a:prstGeom prst="rect">
            <a:avLst/>
          </a:prstGeom>
          <a:noFill/>
        </p:spPr>
        <p:txBody>
          <a:bodyPr wrap="square" anchor="t" lIns="70000" rIns="70000" tIns="40000" bIns="40000">
            <a:spAutoFit/>
          </a:bodyPr>
          <a:lstStyle/>
          <a:p>
            <a:pPr algn="l"/>
            <a:r>
              <a:rPr sz="1000" b="0">
                <a:solidFill>
                  <a:srgbClr val="211248"/>
                </a:solidFill>
                <a:latin typeface="Arial"/>
              </a:rPr>
              <a:t>1. Établir la véracité de l’attaque et son origine</a:t>
            </a:r>
          </a:p>
          <a:p>
            <a:pPr algn="l"/>
            <a:r>
              <a:rPr sz="1000" b="0">
                <a:solidFill>
                  <a:srgbClr val="211248"/>
                </a:solidFill>
                <a:latin typeface="Arial"/>
              </a:rPr>
              <a:t>2. Communiquer en interne</a:t>
            </a:r>
          </a:p>
          <a:p>
            <a:pPr algn="l"/>
            <a:r>
              <a:rPr sz="1000" b="0">
                <a:solidFill>
                  <a:srgbClr val="211248"/>
                </a:solidFill>
                <a:latin typeface="Arial"/>
              </a:rPr>
              <a:t>3. Communiquer vers l’extérieur (tiers, autorités, presse)</a:t>
            </a:r>
          </a:p>
          <a:p>
            <a:pPr algn="l"/>
            <a:r>
              <a:rPr sz="1000" b="0">
                <a:solidFill>
                  <a:srgbClr val="211248"/>
                </a:solidFill>
                <a:latin typeface="Arial"/>
              </a:rPr>
              <a:t>4. Analyser le risque juridique et financier</a:t>
            </a:r>
          </a:p>
          <a:p>
            <a:pPr algn="l"/>
            <a:r>
              <a:rPr sz="1000" b="0">
                <a:solidFill>
                  <a:srgbClr val="211248"/>
                </a:solidFill>
                <a:latin typeface="Arial"/>
              </a:rPr>
              <a:t>5. Remettre l’agent sous contrôle et éviter la récidive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0000" y="120000"/>
            <a:ext cx="6000000" cy="220000"/>
          </a:xfrm>
          <a:prstGeom prst="rect">
            <a:avLst/>
          </a:prstGeom>
          <a:noFill/>
        </p:spPr>
        <p:txBody>
          <a:bodyPr wrap="square" anchor="t" lIns="70000" rIns="70000" tIns="40000" bIns="40000">
            <a:spAutoFit/>
          </a:bodyPr>
          <a:lstStyle/>
          <a:p>
            <a:pPr algn="l"/>
            <a:r>
              <a:rPr sz="1100" b="0">
                <a:solidFill>
                  <a:srgbClr val="5B576E"/>
                </a:solidFill>
                <a:latin typeface="Arial"/>
              </a:rPr>
              <a:t>Exercice de crise COMEX</a:t>
            </a:r>
          </a:p>
        </p:txBody>
      </p:sp>
      <p:sp>
        <p:nvSpPr>
          <p:cNvPr id="3" name="TextBox 2"/>
          <p:cNvSpPr txBox="1"/>
          <p:nvPr/>
        </p:nvSpPr>
        <p:spPr>
          <a:xfrm>
            <a:off x="450000" y="340000"/>
            <a:ext cx="11300000" cy="400000"/>
          </a:xfrm>
          <a:prstGeom prst="rect">
            <a:avLst/>
          </a:prstGeom>
          <a:noFill/>
        </p:spPr>
        <p:txBody>
          <a:bodyPr wrap="square" anchor="t" lIns="70000" rIns="70000" tIns="40000" bIns="40000">
            <a:spAutoFit/>
          </a:bodyPr>
          <a:lstStyle/>
          <a:p>
            <a:pPr algn="l"/>
            <a:r>
              <a:rPr sz="2400" b="1">
                <a:solidFill>
                  <a:srgbClr val="211248"/>
                </a:solidFill>
                <a:latin typeface="Arial"/>
              </a:rPr>
              <a:t>Scénario de l’exercice en 3 séquences</a:t>
            </a:r>
          </a:p>
        </p:txBody>
      </p:sp>
      <p:sp>
        <p:nvSpPr>
          <p:cNvPr id="4" name="TextBox 3"/>
          <p:cNvSpPr txBox="1"/>
          <p:nvPr/>
        </p:nvSpPr>
        <p:spPr>
          <a:xfrm>
            <a:off x="450000" y="760000"/>
            <a:ext cx="11300000" cy="260000"/>
          </a:xfrm>
          <a:prstGeom prst="rect">
            <a:avLst/>
          </a:prstGeom>
          <a:noFill/>
        </p:spPr>
        <p:txBody>
          <a:bodyPr wrap="square" anchor="t" lIns="70000" rIns="70000" tIns="40000" bIns="40000">
            <a:spAutoFit/>
          </a:bodyPr>
          <a:lstStyle/>
          <a:p>
            <a:pPr algn="l"/>
            <a:r>
              <a:rPr sz="1200" b="0">
                <a:solidFill>
                  <a:srgbClr val="5B576E"/>
                </a:solidFill>
                <a:latin typeface="Arial"/>
              </a:rPr>
              <a:t>Un agent IA outrepasse ses droits et attaque des concurrents avec lesquels le Groupe travaille.</a:t>
            </a:r>
          </a:p>
        </p:txBody>
      </p:sp>
      <p:sp>
        <p:nvSpPr>
          <p:cNvPr id="5" name="TextBox 4"/>
          <p:cNvSpPr txBox="1"/>
          <p:nvPr/>
        </p:nvSpPr>
        <p:spPr>
          <a:xfrm>
            <a:off x="11000000" y="6500000"/>
            <a:ext cx="900000" cy="220000"/>
          </a:xfrm>
          <a:prstGeom prst="rect">
            <a:avLst/>
          </a:prstGeom>
          <a:noFill/>
        </p:spPr>
        <p:txBody>
          <a:bodyPr wrap="square" anchor="t" lIns="70000" rIns="70000" tIns="40000" bIns="40000">
            <a:spAutoFit/>
          </a:bodyPr>
          <a:lstStyle/>
          <a:p>
            <a:pPr algn="r"/>
            <a:r>
              <a:rPr sz="800" b="0">
                <a:solidFill>
                  <a:srgbClr val="5B576E"/>
                </a:solidFill>
                <a:latin typeface="Arial"/>
              </a:rPr>
              <a:t>Exemple fictif</a:t>
            </a:r>
          </a:p>
        </p:txBody>
      </p:sp>
      <p:sp>
        <p:nvSpPr>
          <p:cNvPr id="6" name="Rectangle 5"/>
          <p:cNvSpPr/>
          <p:nvPr/>
        </p:nvSpPr>
        <p:spPr>
          <a:xfrm>
            <a:off x="450000" y="1040000"/>
            <a:ext cx="1500000" cy="300000"/>
          </a:xfrm>
          <a:prstGeom prst="rect">
            <a:avLst/>
          </a:prstGeom>
          <a:solidFill>
            <a:srgbClr val="451D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0000" bIns="40000"/>
          <a:lstStyle/>
          <a:p>
            <a:pPr algn="ctr"/>
            <a:r>
              <a:rPr sz="1300" b="1">
                <a:solidFill>
                  <a:srgbClr val="FFFFFF"/>
                </a:solidFill>
                <a:latin typeface="Arial"/>
              </a:rPr>
              <a:t>Brief</a:t>
            </a:r>
          </a:p>
        </p:txBody>
      </p:sp>
      <p:sp>
        <p:nvSpPr>
          <p:cNvPr id="7" name="Rectangle 6"/>
          <p:cNvSpPr/>
          <p:nvPr/>
        </p:nvSpPr>
        <p:spPr>
          <a:xfrm>
            <a:off x="2050000" y="1040000"/>
            <a:ext cx="3200000" cy="300000"/>
          </a:xfrm>
          <a:prstGeom prst="rect">
            <a:avLst/>
          </a:prstGeom>
          <a:solidFill>
            <a:srgbClr val="451D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0000" bIns="40000"/>
          <a:lstStyle/>
          <a:p>
            <a:pPr algn="ctr"/>
            <a:r>
              <a:rPr sz="1300" b="1">
                <a:solidFill>
                  <a:srgbClr val="FFFFFF"/>
                </a:solidFill>
                <a:latin typeface="Arial"/>
              </a:rPr>
              <a:t>Séquence 1</a:t>
            </a:r>
          </a:p>
        </p:txBody>
      </p:sp>
      <p:sp>
        <p:nvSpPr>
          <p:cNvPr id="8" name="Rectangle 7"/>
          <p:cNvSpPr/>
          <p:nvPr/>
        </p:nvSpPr>
        <p:spPr>
          <a:xfrm>
            <a:off x="5350000" y="1040000"/>
            <a:ext cx="3200000" cy="300000"/>
          </a:xfrm>
          <a:prstGeom prst="rect">
            <a:avLst/>
          </a:prstGeom>
          <a:solidFill>
            <a:srgbClr val="451D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0000" bIns="40000"/>
          <a:lstStyle/>
          <a:p>
            <a:pPr algn="ctr"/>
            <a:r>
              <a:rPr sz="1300" b="1">
                <a:solidFill>
                  <a:srgbClr val="FFFFFF"/>
                </a:solidFill>
                <a:latin typeface="Arial"/>
              </a:rPr>
              <a:t>Séquence 2</a:t>
            </a:r>
          </a:p>
        </p:txBody>
      </p:sp>
      <p:sp>
        <p:nvSpPr>
          <p:cNvPr id="9" name="Rectangle 8"/>
          <p:cNvSpPr/>
          <p:nvPr/>
        </p:nvSpPr>
        <p:spPr>
          <a:xfrm>
            <a:off x="8650000" y="1040000"/>
            <a:ext cx="3200000" cy="300000"/>
          </a:xfrm>
          <a:prstGeom prst="rect">
            <a:avLst/>
          </a:prstGeom>
          <a:solidFill>
            <a:srgbClr val="451D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0000" bIns="40000"/>
          <a:lstStyle/>
          <a:p>
            <a:pPr algn="ctr"/>
            <a:r>
              <a:rPr sz="1300" b="1">
                <a:solidFill>
                  <a:srgbClr val="FFFFFF"/>
                </a:solidFill>
                <a:latin typeface="Arial"/>
              </a:rPr>
              <a:t>Séquence 3</a:t>
            </a:r>
          </a:p>
        </p:txBody>
      </p:sp>
      <p:sp>
        <p:nvSpPr>
          <p:cNvPr id="10" name="Rectangle 9"/>
          <p:cNvSpPr/>
          <p:nvPr/>
        </p:nvSpPr>
        <p:spPr>
          <a:xfrm>
            <a:off x="450000" y="1400000"/>
            <a:ext cx="1500000" cy="260000"/>
          </a:xfrm>
          <a:prstGeom prst="rect">
            <a:avLst/>
          </a:prstGeom>
          <a:solidFill>
            <a:srgbClr val="EEEAFB"/>
          </a:solidFill>
          <a:ln w="9525">
            <a:solidFill>
              <a:srgbClr val="D9D4EE"/>
            </a:solid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0000" bIns="40000"/>
          <a:lstStyle/>
          <a:p>
            <a:pPr algn="l"/>
            <a:r>
              <a:rPr sz="1000" b="1">
                <a:solidFill>
                  <a:srgbClr val="211248"/>
                </a:solidFill>
                <a:latin typeface="Arial"/>
              </a:rPr>
              <a:t>Horaire</a:t>
            </a:r>
          </a:p>
        </p:txBody>
      </p:sp>
      <p:sp>
        <p:nvSpPr>
          <p:cNvPr id="11" name="Rectangle 10"/>
          <p:cNvSpPr/>
          <p:nvPr/>
        </p:nvSpPr>
        <p:spPr>
          <a:xfrm>
            <a:off x="2050000" y="1400000"/>
            <a:ext cx="3200000" cy="260000"/>
          </a:xfrm>
          <a:prstGeom prst="rect">
            <a:avLst/>
          </a:prstGeom>
          <a:noFill/>
          <a:ln w="9525">
            <a:solidFill>
              <a:srgbClr val="D9D4EE"/>
            </a:solid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0000" bIns="40000"/>
          <a:lstStyle/>
          <a:p>
            <a:pPr algn="l"/>
            <a:r>
              <a:rPr sz="900" b="0">
                <a:solidFill>
                  <a:srgbClr val="211248"/>
                </a:solidFill>
                <a:latin typeface="Arial"/>
              </a:rPr>
              <a:t>H+0:00 → H+0:15</a:t>
            </a:r>
          </a:p>
        </p:txBody>
      </p:sp>
      <p:sp>
        <p:nvSpPr>
          <p:cNvPr id="12" name="Rectangle 11"/>
          <p:cNvSpPr/>
          <p:nvPr/>
        </p:nvSpPr>
        <p:spPr>
          <a:xfrm>
            <a:off x="5350000" y="1400000"/>
            <a:ext cx="3200000" cy="260000"/>
          </a:xfrm>
          <a:prstGeom prst="rect">
            <a:avLst/>
          </a:prstGeom>
          <a:noFill/>
          <a:ln w="9525">
            <a:solidFill>
              <a:srgbClr val="D9D4EE"/>
            </a:solid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0000" bIns="40000"/>
          <a:lstStyle/>
          <a:p>
            <a:pPr algn="l"/>
            <a:r>
              <a:rPr sz="900" b="0">
                <a:solidFill>
                  <a:srgbClr val="211248"/>
                </a:solidFill>
                <a:latin typeface="Arial"/>
              </a:rPr>
              <a:t>H+0:15 → H+0:30</a:t>
            </a:r>
          </a:p>
        </p:txBody>
      </p:sp>
      <p:sp>
        <p:nvSpPr>
          <p:cNvPr id="13" name="Rectangle 12"/>
          <p:cNvSpPr/>
          <p:nvPr/>
        </p:nvSpPr>
        <p:spPr>
          <a:xfrm>
            <a:off x="8650000" y="1400000"/>
            <a:ext cx="3200000" cy="260000"/>
          </a:xfrm>
          <a:prstGeom prst="rect">
            <a:avLst/>
          </a:prstGeom>
          <a:noFill/>
          <a:ln w="9525">
            <a:solidFill>
              <a:srgbClr val="D9D4EE"/>
            </a:solid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0000" bIns="40000"/>
          <a:lstStyle/>
          <a:p>
            <a:pPr algn="l"/>
            <a:r>
              <a:rPr sz="900" b="0">
                <a:solidFill>
                  <a:srgbClr val="211248"/>
                </a:solidFill>
                <a:latin typeface="Arial"/>
              </a:rPr>
              <a:t>H+0:30 → H+0:45</a:t>
            </a:r>
          </a:p>
        </p:txBody>
      </p:sp>
      <p:sp>
        <p:nvSpPr>
          <p:cNvPr id="14" name="Rectangle 13"/>
          <p:cNvSpPr/>
          <p:nvPr/>
        </p:nvSpPr>
        <p:spPr>
          <a:xfrm>
            <a:off x="450000" y="1720000"/>
            <a:ext cx="1500000" cy="400000"/>
          </a:xfrm>
          <a:prstGeom prst="rect">
            <a:avLst/>
          </a:prstGeom>
          <a:solidFill>
            <a:srgbClr val="EEEAFB"/>
          </a:solidFill>
          <a:ln w="9525">
            <a:solidFill>
              <a:srgbClr val="D9D4EE"/>
            </a:solid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0000" bIns="40000"/>
          <a:lstStyle/>
          <a:p>
            <a:pPr algn="l"/>
            <a:r>
              <a:rPr sz="1000" b="1">
                <a:solidFill>
                  <a:srgbClr val="211248"/>
                </a:solidFill>
                <a:latin typeface="Arial"/>
              </a:rPr>
              <a:t>Événement majeur</a:t>
            </a:r>
          </a:p>
        </p:txBody>
      </p:sp>
      <p:sp>
        <p:nvSpPr>
          <p:cNvPr id="15" name="Rectangle 14"/>
          <p:cNvSpPr/>
          <p:nvPr/>
        </p:nvSpPr>
        <p:spPr>
          <a:xfrm>
            <a:off x="2050000" y="1720000"/>
            <a:ext cx="3200000" cy="400000"/>
          </a:xfrm>
          <a:prstGeom prst="rect">
            <a:avLst/>
          </a:prstGeom>
          <a:noFill/>
          <a:ln w="9525">
            <a:solidFill>
              <a:srgbClr val="D9D4EE"/>
            </a:solid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0000" bIns="40000"/>
          <a:lstStyle/>
          <a:p>
            <a:pPr algn="l"/>
            <a:r>
              <a:rPr sz="900" b="0">
                <a:solidFill>
                  <a:srgbClr val="211248"/>
                </a:solidFill>
                <a:latin typeface="Arial"/>
              </a:rPr>
              <a:t>Alerte d’un tiers et premières suspicions sur la source</a:t>
            </a:r>
          </a:p>
        </p:txBody>
      </p:sp>
      <p:sp>
        <p:nvSpPr>
          <p:cNvPr id="16" name="Rectangle 15"/>
          <p:cNvSpPr/>
          <p:nvPr/>
        </p:nvSpPr>
        <p:spPr>
          <a:xfrm>
            <a:off x="5350000" y="1720000"/>
            <a:ext cx="3200000" cy="400000"/>
          </a:xfrm>
          <a:prstGeom prst="rect">
            <a:avLst/>
          </a:prstGeom>
          <a:noFill/>
          <a:ln w="9525">
            <a:solidFill>
              <a:srgbClr val="D9D4EE"/>
            </a:solid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0000" bIns="40000"/>
          <a:lstStyle/>
          <a:p>
            <a:pPr algn="l"/>
            <a:r>
              <a:rPr sz="900" b="0">
                <a:solidFill>
                  <a:srgbClr val="211248"/>
                </a:solidFill>
                <a:latin typeface="Arial"/>
              </a:rPr>
              <a:t>Preuve de l’utilisation d’un agent IA</a:t>
            </a:r>
          </a:p>
        </p:txBody>
      </p:sp>
      <p:sp>
        <p:nvSpPr>
          <p:cNvPr id="17" name="Rectangle 16"/>
          <p:cNvSpPr/>
          <p:nvPr/>
        </p:nvSpPr>
        <p:spPr>
          <a:xfrm>
            <a:off x="8650000" y="1720000"/>
            <a:ext cx="3200000" cy="400000"/>
          </a:xfrm>
          <a:prstGeom prst="rect">
            <a:avLst/>
          </a:prstGeom>
          <a:noFill/>
          <a:ln w="9525">
            <a:solidFill>
              <a:srgbClr val="D9D4EE"/>
            </a:solid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0000" bIns="40000"/>
          <a:lstStyle/>
          <a:p>
            <a:pPr algn="l"/>
            <a:r>
              <a:rPr sz="900" b="0">
                <a:solidFill>
                  <a:srgbClr val="211248"/>
                </a:solidFill>
                <a:latin typeface="Arial"/>
              </a:rPr>
              <a:t>Déploiement d’un correctif et retour sous contrôle</a:t>
            </a:r>
          </a:p>
        </p:txBody>
      </p:sp>
      <p:sp>
        <p:nvSpPr>
          <p:cNvPr id="18" name="Rectangle 17"/>
          <p:cNvSpPr/>
          <p:nvPr/>
        </p:nvSpPr>
        <p:spPr>
          <a:xfrm>
            <a:off x="450000" y="2180000"/>
            <a:ext cx="1500000" cy="620000"/>
          </a:xfrm>
          <a:prstGeom prst="rect">
            <a:avLst/>
          </a:prstGeom>
          <a:solidFill>
            <a:srgbClr val="EEEAFB"/>
          </a:solidFill>
          <a:ln w="9525">
            <a:solidFill>
              <a:srgbClr val="D9D4EE"/>
            </a:solid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0000" bIns="40000"/>
          <a:lstStyle/>
          <a:p>
            <a:pPr algn="l"/>
            <a:r>
              <a:rPr sz="1000" b="1">
                <a:solidFill>
                  <a:srgbClr val="211248"/>
                </a:solidFill>
                <a:latin typeface="Arial"/>
              </a:rPr>
              <a:t>Présentation</a:t>
            </a:r>
          </a:p>
        </p:txBody>
      </p:sp>
      <p:sp>
        <p:nvSpPr>
          <p:cNvPr id="19" name="Rectangle 18"/>
          <p:cNvSpPr/>
          <p:nvPr/>
        </p:nvSpPr>
        <p:spPr>
          <a:xfrm>
            <a:off x="2050000" y="2180000"/>
            <a:ext cx="3200000" cy="620000"/>
          </a:xfrm>
          <a:prstGeom prst="rect">
            <a:avLst/>
          </a:prstGeom>
          <a:noFill/>
          <a:ln w="9525">
            <a:solidFill>
              <a:srgbClr val="D9D4EE"/>
            </a:solid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0000" bIns="40000"/>
          <a:lstStyle/>
          <a:p>
            <a:pPr algn="l"/>
            <a:r>
              <a:rPr sz="900" b="0">
                <a:solidFill>
                  <a:srgbClr val="211248"/>
                </a:solidFill>
                <a:latin typeface="Arial"/>
              </a:rPr>
              <a:t>Un concurrent signale une intrusion avec des éléments qui désignent les outils du Groupe (sans parler d’IA).</a:t>
            </a:r>
          </a:p>
        </p:txBody>
      </p:sp>
      <p:sp>
        <p:nvSpPr>
          <p:cNvPr id="20" name="Rectangle 19"/>
          <p:cNvSpPr/>
          <p:nvPr/>
        </p:nvSpPr>
        <p:spPr>
          <a:xfrm>
            <a:off x="5350000" y="2180000"/>
            <a:ext cx="3200000" cy="620000"/>
          </a:xfrm>
          <a:prstGeom prst="rect">
            <a:avLst/>
          </a:prstGeom>
          <a:noFill/>
          <a:ln w="9525">
            <a:solidFill>
              <a:srgbClr val="D9D4EE"/>
            </a:solid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0000" bIns="40000"/>
          <a:lstStyle/>
          <a:p>
            <a:pPr algn="l"/>
            <a:r>
              <a:rPr sz="900" b="0">
                <a:solidFill>
                  <a:srgbClr val="211248"/>
                </a:solidFill>
                <a:latin typeface="Arial"/>
              </a:rPr>
              <a:t>L’investigation confirme qu’un agent IA du Groupe a mené les actions.</a:t>
            </a:r>
          </a:p>
        </p:txBody>
      </p:sp>
      <p:sp>
        <p:nvSpPr>
          <p:cNvPr id="21" name="Rectangle 20"/>
          <p:cNvSpPr/>
          <p:nvPr/>
        </p:nvSpPr>
        <p:spPr>
          <a:xfrm>
            <a:off x="8650000" y="2180000"/>
            <a:ext cx="3200000" cy="620000"/>
          </a:xfrm>
          <a:prstGeom prst="rect">
            <a:avLst/>
          </a:prstGeom>
          <a:noFill/>
          <a:ln w="9525">
            <a:solidFill>
              <a:srgbClr val="D9D4EE"/>
            </a:solid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0000" bIns="40000"/>
          <a:lstStyle/>
          <a:p>
            <a:pPr algn="l"/>
            <a:r>
              <a:rPr sz="900" b="0">
                <a:solidFill>
                  <a:srgbClr val="211248"/>
                </a:solidFill>
                <a:latin typeface="Arial"/>
              </a:rPr>
              <a:t>Un autre outil IA est déployé pour nettoyer une fois l’agent mis hors service.</a:t>
            </a:r>
          </a:p>
        </p:txBody>
      </p:sp>
      <p:sp>
        <p:nvSpPr>
          <p:cNvPr id="22" name="Rectangle 21"/>
          <p:cNvSpPr/>
          <p:nvPr/>
        </p:nvSpPr>
        <p:spPr>
          <a:xfrm>
            <a:off x="450000" y="2860000"/>
            <a:ext cx="1500000" cy="840000"/>
          </a:xfrm>
          <a:prstGeom prst="rect">
            <a:avLst/>
          </a:prstGeom>
          <a:solidFill>
            <a:srgbClr val="EEEAFB"/>
          </a:solidFill>
          <a:ln w="9525">
            <a:solidFill>
              <a:srgbClr val="D9D4EE"/>
            </a:solid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0000" bIns="40000"/>
          <a:lstStyle/>
          <a:p>
            <a:pPr algn="l"/>
            <a:r>
              <a:rPr sz="1000" b="1">
                <a:solidFill>
                  <a:srgbClr val="211248"/>
                </a:solidFill>
                <a:latin typeface="Arial"/>
              </a:rPr>
              <a:t>Questionnements</a:t>
            </a:r>
          </a:p>
        </p:txBody>
      </p:sp>
      <p:sp>
        <p:nvSpPr>
          <p:cNvPr id="23" name="Rectangle 22"/>
          <p:cNvSpPr/>
          <p:nvPr/>
        </p:nvSpPr>
        <p:spPr>
          <a:xfrm>
            <a:off x="2050000" y="2860000"/>
            <a:ext cx="3200000" cy="840000"/>
          </a:xfrm>
          <a:prstGeom prst="rect">
            <a:avLst/>
          </a:prstGeom>
          <a:noFill/>
          <a:ln w="9525">
            <a:solidFill>
              <a:srgbClr val="D9D4EE"/>
            </a:solid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0000" bIns="40000"/>
          <a:lstStyle/>
          <a:p>
            <a:pPr algn="l"/>
            <a:r>
              <a:rPr sz="900" b="0">
                <a:solidFill>
                  <a:srgbClr val="211248"/>
                </a:solidFill>
                <a:latin typeface="Arial"/>
              </a:rPr>
              <a:t>Les éléments techniques sont-ils fiables ?</a:t>
            </a:r>
          </a:p>
          <a:p>
            <a:pPr algn="l"/>
            <a:r>
              <a:rPr sz="900" b="0">
                <a:solidFill>
                  <a:srgbClr val="211248"/>
                </a:solidFill>
                <a:latin typeface="Arial"/>
              </a:rPr>
              <a:t>Faut-il lancer une investigation interne ?</a:t>
            </a:r>
          </a:p>
          <a:p>
            <a:pPr algn="l"/>
            <a:r>
              <a:rPr sz="900" b="0">
                <a:solidFill>
                  <a:srgbClr val="211248"/>
                </a:solidFill>
                <a:latin typeface="Arial"/>
              </a:rPr>
              <a:t>Quelle posture vis-à-vis des tiers ?</a:t>
            </a:r>
          </a:p>
        </p:txBody>
      </p:sp>
      <p:sp>
        <p:nvSpPr>
          <p:cNvPr id="24" name="Rectangle 23"/>
          <p:cNvSpPr/>
          <p:nvPr/>
        </p:nvSpPr>
        <p:spPr>
          <a:xfrm>
            <a:off x="5350000" y="2860000"/>
            <a:ext cx="3200000" cy="840000"/>
          </a:xfrm>
          <a:prstGeom prst="rect">
            <a:avLst/>
          </a:prstGeom>
          <a:noFill/>
          <a:ln w="9525">
            <a:solidFill>
              <a:srgbClr val="D9D4EE"/>
            </a:solid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0000" bIns="40000"/>
          <a:lstStyle/>
          <a:p>
            <a:pPr algn="l"/>
            <a:r>
              <a:rPr sz="900" b="0">
                <a:solidFill>
                  <a:srgbClr val="211248"/>
                </a:solidFill>
                <a:latin typeface="Arial"/>
              </a:rPr>
              <a:t>Comment l’agent a-t-il eu ces capacités ?</a:t>
            </a:r>
          </a:p>
          <a:p>
            <a:pPr algn="l"/>
            <a:r>
              <a:rPr sz="900" b="0">
                <a:solidFill>
                  <a:srgbClr val="211248"/>
                </a:solidFill>
                <a:latin typeface="Arial"/>
              </a:rPr>
              <a:t>Faut-il arrêter les systèmes IA ?</a:t>
            </a:r>
          </a:p>
          <a:p>
            <a:pPr algn="l"/>
            <a:r>
              <a:rPr sz="900" b="0">
                <a:solidFill>
                  <a:srgbClr val="211248"/>
                </a:solidFill>
                <a:latin typeface="Arial"/>
              </a:rPr>
              <a:t>Faut-il informer les autorités ?</a:t>
            </a:r>
          </a:p>
        </p:txBody>
      </p:sp>
      <p:sp>
        <p:nvSpPr>
          <p:cNvPr id="25" name="Rectangle 24"/>
          <p:cNvSpPr/>
          <p:nvPr/>
        </p:nvSpPr>
        <p:spPr>
          <a:xfrm>
            <a:off x="8650000" y="2860000"/>
            <a:ext cx="3200000" cy="840000"/>
          </a:xfrm>
          <a:prstGeom prst="rect">
            <a:avLst/>
          </a:prstGeom>
          <a:noFill/>
          <a:ln w="9525">
            <a:solidFill>
              <a:srgbClr val="D9D4EE"/>
            </a:solid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0000" bIns="40000"/>
          <a:lstStyle/>
          <a:p>
            <a:pPr algn="l"/>
            <a:r>
              <a:rPr sz="900" b="0">
                <a:solidFill>
                  <a:srgbClr val="211248"/>
                </a:solidFill>
                <a:latin typeface="Arial"/>
              </a:rPr>
              <a:t>Peut-on garantir l’arrêt de l’agent ?</a:t>
            </a:r>
          </a:p>
          <a:p>
            <a:pPr algn="l"/>
            <a:r>
              <a:rPr sz="900" b="0">
                <a:solidFill>
                  <a:srgbClr val="211248"/>
                </a:solidFill>
                <a:latin typeface="Arial"/>
              </a:rPr>
              <a:t>Quelle communication externe ?</a:t>
            </a:r>
          </a:p>
          <a:p>
            <a:pPr algn="l"/>
            <a:r>
              <a:rPr sz="900" b="0">
                <a:solidFill>
                  <a:srgbClr val="211248"/>
                </a:solidFill>
                <a:latin typeface="Arial"/>
              </a:rPr>
              <a:t>Comment éviter une récidive ?</a:t>
            </a:r>
          </a:p>
        </p:txBody>
      </p:sp>
      <p:sp>
        <p:nvSpPr>
          <p:cNvPr id="26" name="Rectangle 25"/>
          <p:cNvSpPr/>
          <p:nvPr/>
        </p:nvSpPr>
        <p:spPr>
          <a:xfrm>
            <a:off x="450000" y="3760000"/>
            <a:ext cx="1500000" cy="840000"/>
          </a:xfrm>
          <a:prstGeom prst="rect">
            <a:avLst/>
          </a:prstGeom>
          <a:solidFill>
            <a:srgbClr val="EEEAFB"/>
          </a:solidFill>
          <a:ln w="9525">
            <a:solidFill>
              <a:srgbClr val="D9D4EE"/>
            </a:solid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0000" bIns="40000"/>
          <a:lstStyle/>
          <a:p>
            <a:pPr algn="l"/>
            <a:r>
              <a:rPr sz="1000" b="1">
                <a:solidFill>
                  <a:srgbClr val="211248"/>
                </a:solidFill>
                <a:latin typeface="Arial"/>
              </a:rPr>
              <a:t>Décisions attendues</a:t>
            </a:r>
          </a:p>
        </p:txBody>
      </p:sp>
      <p:sp>
        <p:nvSpPr>
          <p:cNvPr id="27" name="Rectangle 26"/>
          <p:cNvSpPr/>
          <p:nvPr/>
        </p:nvSpPr>
        <p:spPr>
          <a:xfrm>
            <a:off x="2050000" y="3760000"/>
            <a:ext cx="3200000" cy="840000"/>
          </a:xfrm>
          <a:prstGeom prst="rect">
            <a:avLst/>
          </a:prstGeom>
          <a:noFill/>
          <a:ln w="9525">
            <a:solidFill>
              <a:srgbClr val="D9D4EE"/>
            </a:solid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0000" bIns="40000"/>
          <a:lstStyle/>
          <a:p>
            <a:pPr algn="l"/>
            <a:r>
              <a:rPr sz="900" b="0">
                <a:solidFill>
                  <a:srgbClr val="211248"/>
                </a:solidFill>
                <a:latin typeface="Arial"/>
              </a:rPr>
              <a:t>Lancer l’investigation et préserver les preuves</a:t>
            </a:r>
          </a:p>
          <a:p>
            <a:pPr algn="l"/>
            <a:r>
              <a:rPr sz="900" b="0">
                <a:solidFill>
                  <a:srgbClr val="211248"/>
                </a:solidFill>
                <a:latin typeface="Arial"/>
              </a:rPr>
              <a:t>Cadrer l’analyse juridique</a:t>
            </a:r>
          </a:p>
          <a:p>
            <a:pPr algn="l"/>
            <a:r>
              <a:rPr sz="900" b="0">
                <a:solidFill>
                  <a:srgbClr val="211248"/>
                </a:solidFill>
                <a:latin typeface="Arial"/>
              </a:rPr>
              <a:t>Définir la posture de communication</a:t>
            </a:r>
          </a:p>
        </p:txBody>
      </p:sp>
      <p:sp>
        <p:nvSpPr>
          <p:cNvPr id="28" name="Rectangle 27"/>
          <p:cNvSpPr/>
          <p:nvPr/>
        </p:nvSpPr>
        <p:spPr>
          <a:xfrm>
            <a:off x="5350000" y="3760000"/>
            <a:ext cx="3200000" cy="840000"/>
          </a:xfrm>
          <a:prstGeom prst="rect">
            <a:avLst/>
          </a:prstGeom>
          <a:noFill/>
          <a:ln w="9525">
            <a:solidFill>
              <a:srgbClr val="D9D4EE"/>
            </a:solid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0000" bIns="40000"/>
          <a:lstStyle/>
          <a:p>
            <a:pPr algn="l"/>
            <a:r>
              <a:rPr sz="900" b="0">
                <a:solidFill>
                  <a:srgbClr val="211248"/>
                </a:solidFill>
                <a:latin typeface="Arial"/>
              </a:rPr>
              <a:t>Confiner et désactiver l’outil IA</a:t>
            </a:r>
          </a:p>
          <a:p>
            <a:pPr algn="l"/>
            <a:r>
              <a:rPr sz="900" b="0">
                <a:solidFill>
                  <a:srgbClr val="211248"/>
                </a:solidFill>
                <a:latin typeface="Arial"/>
              </a:rPr>
              <a:t>Identifier systèmes et données exposés</a:t>
            </a:r>
          </a:p>
          <a:p>
            <a:pPr algn="l"/>
            <a:r>
              <a:rPr sz="900" b="0">
                <a:solidFill>
                  <a:srgbClr val="211248"/>
                </a:solidFill>
                <a:latin typeface="Arial"/>
              </a:rPr>
              <a:t>Choisir la posture réglementaire</a:t>
            </a:r>
          </a:p>
        </p:txBody>
      </p:sp>
      <p:sp>
        <p:nvSpPr>
          <p:cNvPr id="29" name="Rectangle 28"/>
          <p:cNvSpPr/>
          <p:nvPr/>
        </p:nvSpPr>
        <p:spPr>
          <a:xfrm>
            <a:off x="8650000" y="3760000"/>
            <a:ext cx="3200000" cy="840000"/>
          </a:xfrm>
          <a:prstGeom prst="rect">
            <a:avLst/>
          </a:prstGeom>
          <a:noFill/>
          <a:ln w="9525">
            <a:solidFill>
              <a:srgbClr val="D9D4EE"/>
            </a:solid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0000" bIns="40000"/>
          <a:lstStyle/>
          <a:p>
            <a:pPr algn="l"/>
            <a:r>
              <a:rPr sz="900" b="0">
                <a:solidFill>
                  <a:srgbClr val="211248"/>
                </a:solidFill>
                <a:latin typeface="Arial"/>
              </a:rPr>
              <a:t>Confirmer le retour sous contrôle humain</a:t>
            </a:r>
          </a:p>
          <a:p>
            <a:pPr algn="l"/>
            <a:r>
              <a:rPr sz="900" b="0">
                <a:solidFill>
                  <a:srgbClr val="211248"/>
                </a:solidFill>
                <a:latin typeface="Arial"/>
              </a:rPr>
              <a:t>Mobiliser une cellule élargie</a:t>
            </a:r>
          </a:p>
          <a:p>
            <a:pPr algn="l"/>
            <a:r>
              <a:rPr sz="900" b="0">
                <a:solidFill>
                  <a:srgbClr val="211248"/>
                </a:solidFill>
                <a:latin typeface="Arial"/>
              </a:rPr>
              <a:t>Lancer la remédiation et le post-mortem</a:t>
            </a:r>
          </a:p>
        </p:txBody>
      </p:sp>
      <p:sp>
        <p:nvSpPr>
          <p:cNvPr id="30" name="Rectangle 29"/>
          <p:cNvSpPr/>
          <p:nvPr/>
        </p:nvSpPr>
        <p:spPr>
          <a:xfrm>
            <a:off x="450000" y="4660000"/>
            <a:ext cx="1500000" cy="1040000"/>
          </a:xfrm>
          <a:prstGeom prst="rect">
            <a:avLst/>
          </a:prstGeom>
          <a:solidFill>
            <a:srgbClr val="EEEAFB"/>
          </a:solidFill>
          <a:ln w="9525">
            <a:solidFill>
              <a:srgbClr val="D9D4EE"/>
            </a:solid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0000" bIns="40000"/>
          <a:lstStyle/>
          <a:p>
            <a:pPr algn="l"/>
            <a:r>
              <a:rPr sz="1000" b="1">
                <a:solidFill>
                  <a:srgbClr val="211248"/>
                </a:solidFill>
                <a:latin typeface="Arial"/>
              </a:rPr>
              <a:t>Stimuli</a:t>
            </a:r>
          </a:p>
        </p:txBody>
      </p:sp>
      <p:sp>
        <p:nvSpPr>
          <p:cNvPr id="31" name="Rectangle 30"/>
          <p:cNvSpPr/>
          <p:nvPr/>
        </p:nvSpPr>
        <p:spPr>
          <a:xfrm>
            <a:off x="2050000" y="4660000"/>
            <a:ext cx="3200000" cy="1040000"/>
          </a:xfrm>
          <a:prstGeom prst="rect">
            <a:avLst/>
          </a:prstGeom>
          <a:noFill/>
          <a:ln w="9525">
            <a:solidFill>
              <a:srgbClr val="D9D4EE"/>
            </a:solid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0000" bIns="40000"/>
          <a:lstStyle/>
          <a:p>
            <a:pPr algn="l"/>
            <a:r>
              <a:rPr sz="900" b="0">
                <a:solidFill>
                  <a:srgbClr val="211248"/>
                </a:solidFill>
                <a:latin typeface="Arial"/>
              </a:rPr>
              <a:t>Mail d’un concurrent signalant une intrusion</a:t>
            </a:r>
          </a:p>
          <a:p>
            <a:pPr algn="l"/>
            <a:r>
              <a:rPr sz="900" b="0">
                <a:solidFill>
                  <a:srgbClr val="211248"/>
                </a:solidFill>
                <a:latin typeface="Arial"/>
              </a:rPr>
              <a:t>Mail d’un client signalant des accès suspects</a:t>
            </a:r>
          </a:p>
          <a:p>
            <a:pPr algn="l"/>
            <a:r>
              <a:rPr sz="900" b="0">
                <a:solidFill>
                  <a:srgbClr val="211248"/>
                </a:solidFill>
                <a:latin typeface="Arial"/>
              </a:rPr>
              <a:t>Traces de connexion depuis le Groupe</a:t>
            </a:r>
          </a:p>
          <a:p>
            <a:pPr algn="l"/>
            <a:r>
              <a:rPr sz="900" b="0">
                <a:solidFill>
                  <a:srgbClr val="211248"/>
                </a:solidFill>
                <a:latin typeface="Arial"/>
              </a:rPr>
              <a:t>Logs d’usage de comptes internes</a:t>
            </a:r>
          </a:p>
          <a:p>
            <a:pPr algn="l"/>
            <a:r>
              <a:rPr sz="900" b="0">
                <a:solidFill>
                  <a:srgbClr val="211248"/>
                </a:solidFill>
                <a:latin typeface="Arial"/>
              </a:rPr>
              <a:t>Premières spéculations dans la presse</a:t>
            </a:r>
          </a:p>
        </p:txBody>
      </p:sp>
      <p:sp>
        <p:nvSpPr>
          <p:cNvPr id="32" name="Rectangle 31"/>
          <p:cNvSpPr/>
          <p:nvPr/>
        </p:nvSpPr>
        <p:spPr>
          <a:xfrm>
            <a:off x="5350000" y="4660000"/>
            <a:ext cx="3200000" cy="1040000"/>
          </a:xfrm>
          <a:prstGeom prst="rect">
            <a:avLst/>
          </a:prstGeom>
          <a:noFill/>
          <a:ln w="9525">
            <a:solidFill>
              <a:srgbClr val="D9D4EE"/>
            </a:solid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0000" bIns="40000"/>
          <a:lstStyle/>
          <a:p>
            <a:pPr algn="l"/>
            <a:r>
              <a:rPr sz="900" b="0">
                <a:solidFill>
                  <a:srgbClr val="211248"/>
                </a:solidFill>
                <a:latin typeface="Arial"/>
              </a:rPr>
              <a:t>Preuves reliant les attaques à l’outil IA</a:t>
            </a:r>
          </a:p>
          <a:p>
            <a:pPr algn="l"/>
            <a:r>
              <a:rPr sz="900" b="0">
                <a:solidFill>
                  <a:srgbClr val="211248"/>
                </a:solidFill>
                <a:latin typeface="Arial"/>
              </a:rPr>
              <a:t>Cartographie des droits de l’agent</a:t>
            </a:r>
          </a:p>
          <a:p>
            <a:pPr algn="l"/>
            <a:r>
              <a:rPr sz="900" b="0">
                <a:solidFill>
                  <a:srgbClr val="211248"/>
                </a:solidFill>
                <a:latin typeface="Arial"/>
              </a:rPr>
              <a:t>Message de stagiaires utilisant l’agent</a:t>
            </a:r>
          </a:p>
          <a:p>
            <a:pPr algn="l"/>
            <a:r>
              <a:rPr sz="900" b="0">
                <a:solidFill>
                  <a:srgbClr val="211248"/>
                </a:solidFill>
                <a:latin typeface="Arial"/>
              </a:rPr>
              <a:t>Mise en demeure du concurrent</a:t>
            </a:r>
          </a:p>
          <a:p>
            <a:pPr algn="l"/>
            <a:r>
              <a:rPr sz="900" b="0">
                <a:solidFill>
                  <a:srgbClr val="211248"/>
                </a:solidFill>
                <a:latin typeface="Arial"/>
              </a:rPr>
              <a:t>Question d’un journaliste</a:t>
            </a:r>
          </a:p>
        </p:txBody>
      </p:sp>
      <p:sp>
        <p:nvSpPr>
          <p:cNvPr id="33" name="Rectangle 32"/>
          <p:cNvSpPr/>
          <p:nvPr/>
        </p:nvSpPr>
        <p:spPr>
          <a:xfrm>
            <a:off x="8650000" y="4660000"/>
            <a:ext cx="3200000" cy="1040000"/>
          </a:xfrm>
          <a:prstGeom prst="rect">
            <a:avLst/>
          </a:prstGeom>
          <a:noFill/>
          <a:ln w="9525">
            <a:solidFill>
              <a:srgbClr val="D9D4EE"/>
            </a:solid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0000" bIns="40000"/>
          <a:lstStyle/>
          <a:p>
            <a:pPr algn="l"/>
            <a:r>
              <a:rPr sz="900" b="0">
                <a:solidFill>
                  <a:srgbClr val="211248"/>
                </a:solidFill>
                <a:latin typeface="Arial"/>
              </a:rPr>
              <a:t>Déploiement de l’agent IA défensif</a:t>
            </a:r>
          </a:p>
          <a:p>
            <a:pPr algn="l"/>
            <a:r>
              <a:rPr sz="900" b="0">
                <a:solidFill>
                  <a:srgbClr val="211248"/>
                </a:solidFill>
                <a:latin typeface="Arial"/>
              </a:rPr>
              <a:t>Nouvelles tentatives de l’agent</a:t>
            </a:r>
          </a:p>
          <a:p>
            <a:pPr algn="l"/>
            <a:r>
              <a:rPr sz="900" b="0">
                <a:solidFill>
                  <a:srgbClr val="211248"/>
                </a:solidFill>
                <a:latin typeface="Arial"/>
              </a:rPr>
              <a:t>Article « une IA hors de contrôle »</a:t>
            </a:r>
          </a:p>
          <a:p>
            <a:pPr algn="l"/>
            <a:r>
              <a:rPr sz="900" b="0">
                <a:solidFill>
                  <a:srgbClr val="211248"/>
                </a:solidFill>
                <a:latin typeface="Arial"/>
              </a:rPr>
              <a:t>Question du régulateur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0000" y="120000"/>
            <a:ext cx="6000000" cy="220000"/>
          </a:xfrm>
          <a:prstGeom prst="rect">
            <a:avLst/>
          </a:prstGeom>
          <a:noFill/>
        </p:spPr>
        <p:txBody>
          <a:bodyPr wrap="square" anchor="t" lIns="70000" rIns="70000" tIns="40000" bIns="40000">
            <a:spAutoFit/>
          </a:bodyPr>
          <a:lstStyle/>
          <a:p>
            <a:pPr algn="l"/>
            <a:r>
              <a:rPr sz="1100" b="0">
                <a:solidFill>
                  <a:srgbClr val="5B576E"/>
                </a:solidFill>
                <a:latin typeface="Arial"/>
              </a:rPr>
              <a:t>Exercice de crise COMEX</a:t>
            </a:r>
          </a:p>
        </p:txBody>
      </p:sp>
      <p:sp>
        <p:nvSpPr>
          <p:cNvPr id="3" name="TextBox 2"/>
          <p:cNvSpPr txBox="1"/>
          <p:nvPr/>
        </p:nvSpPr>
        <p:spPr>
          <a:xfrm>
            <a:off x="450000" y="340000"/>
            <a:ext cx="11300000" cy="400000"/>
          </a:xfrm>
          <a:prstGeom prst="rect">
            <a:avLst/>
          </a:prstGeom>
          <a:noFill/>
        </p:spPr>
        <p:txBody>
          <a:bodyPr wrap="square" anchor="t" lIns="70000" rIns="70000" tIns="40000" bIns="40000">
            <a:spAutoFit/>
          </a:bodyPr>
          <a:lstStyle/>
          <a:p>
            <a:pPr algn="l"/>
            <a:r>
              <a:rPr sz="2400" b="1">
                <a:solidFill>
                  <a:srgbClr val="211248"/>
                </a:solidFill>
                <a:latin typeface="Arial"/>
              </a:rPr>
              <a:t>RETEX et évaluation</a:t>
            </a:r>
          </a:p>
        </p:txBody>
      </p:sp>
      <p:sp>
        <p:nvSpPr>
          <p:cNvPr id="4" name="TextBox 3"/>
          <p:cNvSpPr txBox="1"/>
          <p:nvPr/>
        </p:nvSpPr>
        <p:spPr>
          <a:xfrm>
            <a:off x="11000000" y="6500000"/>
            <a:ext cx="900000" cy="220000"/>
          </a:xfrm>
          <a:prstGeom prst="rect">
            <a:avLst/>
          </a:prstGeom>
          <a:noFill/>
        </p:spPr>
        <p:txBody>
          <a:bodyPr wrap="square" anchor="t" lIns="70000" rIns="70000" tIns="40000" bIns="40000">
            <a:spAutoFit/>
          </a:bodyPr>
          <a:lstStyle/>
          <a:p>
            <a:pPr algn="r"/>
            <a:r>
              <a:rPr sz="800" b="0">
                <a:solidFill>
                  <a:srgbClr val="5B576E"/>
                </a:solidFill>
                <a:latin typeface="Arial"/>
              </a:rPr>
              <a:t>Exemple fictif</a:t>
            </a:r>
          </a:p>
        </p:txBody>
      </p:sp>
      <p:sp>
        <p:nvSpPr>
          <p:cNvPr id="5" name="TextBox 4"/>
          <p:cNvSpPr txBox="1"/>
          <p:nvPr/>
        </p:nvSpPr>
        <p:spPr>
          <a:xfrm>
            <a:off x="450000" y="900000"/>
            <a:ext cx="11300000" cy="1500000"/>
          </a:xfrm>
          <a:prstGeom prst="rect">
            <a:avLst/>
          </a:prstGeom>
          <a:noFill/>
        </p:spPr>
        <p:txBody>
          <a:bodyPr wrap="square" anchor="t" lIns="70000" rIns="70000" tIns="40000" bIns="40000">
            <a:spAutoFit/>
          </a:bodyPr>
          <a:lstStyle/>
          <a:p>
            <a:pPr algn="l"/>
            <a:r>
              <a:rPr sz="1100" b="0">
                <a:solidFill>
                  <a:srgbClr val="211248"/>
                </a:solidFill>
                <a:latin typeface="Arial"/>
              </a:rPr>
              <a:t>RETEX à chaud (15 minutes) : tour de table des participants, puis des observateurs.</a:t>
            </a:r>
          </a:p>
          <a:p>
            <a:pPr algn="l"/>
            <a:r>
              <a:rPr sz="1100" b="0">
                <a:solidFill>
                  <a:srgbClr val="211248"/>
                </a:solidFill>
                <a:latin typeface="Arial"/>
              </a:rPr>
              <a:t>Grille d’évaluation par objectif pédagogique : décision d’arrêt de l’agent, qualification juridique, posture de communication, retour sous contrôle humain.</a:t>
            </a:r>
          </a:p>
          <a:p>
            <a:pPr algn="l"/>
            <a:r>
              <a:rPr sz="1100" b="0">
                <a:solidFill>
                  <a:srgbClr val="211248"/>
                </a:solidFill>
                <a:latin typeface="Arial"/>
              </a:rPr>
              <a:t>RETEX à froid sous trois semaines : plan d’actions (gouvernance des agents IA, circuits de décision, procédure de notification).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