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diagrams/data1.xml" ContentType="application/vnd.openxmlformats-officedocument.drawingml.diagramData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notesMaster" Target="notesMasters/notesMaster1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Stimuli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Décisionnelle</c:v>
                </c:pt>
                <c:pt idx="1">
                  <c:v>IT</c:v>
                </c:pt>
                <c:pt idx="2">
                  <c:v>Communication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</c:v>
                </c:pt>
                <c:pt idx="1">
                  <c:v>9</c:v>
                </c:pt>
                <c:pt idx="2">
                  <c:v>4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diagrams/data1.xml><?xml version="1.0" encoding="utf-8"?>
<dgm:dataModel xmlns:dgm="http://schemas.openxmlformats.org/drawingml/2006/diagram" xmlns:a="http://schemas.openxmlformats.org/drawingml/2006/main">
  <dgm:ptLst>
    <dgm:pt modelId="{0}" type="doc">
      <dgm:prSet/>
      <dgm:spPr/>
      <dgm:t>
        <a:bodyPr/>
        <a:p>
          <a:endParaRPr/>
        </a:p>
      </dgm:t>
    </dgm:pt>
    <dgm:pt modelId="{1}">
      <dgm:prSet/>
      <dgm:spPr/>
      <dgm:t>
        <a:bodyPr/>
        <a:p>
          <a:r>
            <a:t>J-21 : hameçonnage d’un comptable</a:t>
          </a:r>
        </a:p>
      </dgm:t>
    </dgm:pt>
    <dgm:pt modelId="{2}">
      <dgm:prSet/>
      <dgm:spPr/>
      <dgm:t>
        <a:bodyPr/>
        <a:p>
          <a:r>
            <a:t>J-3 : exfiltration de 80 Go</a:t>
          </a:r>
        </a:p>
      </dgm:t>
    </dgm:pt>
    <dgm:pt modelId="{3}">
      <dgm:prSet/>
      <dgm:spPr/>
      <dgm:t>
        <a:bodyPr/>
        <a:p>
          <a:r>
            <a:t>Jour J 06:40 : chiffrement du WMS</a:t>
          </a:r>
        </a:p>
      </dgm:t>
    </dgm:pt>
    <dgm:pt modelId="{9}" type="sibTrans">
      <dgm:prSet/>
      <dgm:spPr/>
      <dgm:t>
        <a:bodyPr/>
        <a:p>
          <a:r>
            <a:t>ignored</a:t>
          </a:r>
        </a:p>
      </dgm:t>
    </dgm:pt>
  </dgm:ptLst>
  <dgm:cxnLst/>
</dgm:dataModel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Rappeler aux joueurs que la société est fictive.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Relance si pas de réaction sous 10 min : un deuxième tweet avec photo.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Dgm1" Type="http://schemas.openxmlformats.org/officeDocument/2006/relationships/diagramData" Target="../diagrams/data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Opération Chaîne du froid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Exercice de crise cyber - Groupe Frigolog - 12 mars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Déroulé de la journée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08:30 Accueil des participants</a:t>
            </a:r>
          </a:p>
          <a:p>
            <a:pPr/>
            <a:r>
              <a:t>09:00 Début de l’exercice (durée 3 h)</a:t>
            </a:r>
          </a:p>
          <a:p>
            <a:pPr/>
            <a:r>
              <a:t>12:00 RETEX à chaud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Contexte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Frigolog, logisticien du froid, 2 400 salariés, 14 entrepôts en France</a:t>
            </a:r>
          </a:p>
          <a:p>
            <a:pPr/>
            <a:r>
              <a:t>Activité critique : pilotage des chambres froides via le WMS &amp; la GTB</a:t>
            </a:r>
          </a:p>
          <a:p>
            <a:pPr lvl="1"/>
            <a:r>
              <a:t>Pic d’activité avant Pâques, clients grande distribution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Objectifs de l’exercice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Tester la mobilisation de la cellule de crise décisionnelle</a:t>
            </a:r>
          </a:p>
          <a:p>
            <a:pPr/>
            <a:r>
              <a:t>Direction : arbitrer l’arrêt du WMS dans l’incertitude</a:t>
            </a:r>
          </a:p>
          <a:p>
            <a:pPr/>
            <a:r>
              <a:t>Communication : tenir des messages cohérents face aux médias</a:t>
            </a:r>
          </a:p>
          <a:p>
            <a:pPr lvl="1"/>
            <a:r>
              <a:t>Juridique : notifier la CNIL sous 72 h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Participants et cellules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1371600"/>
          <a:ext cx="859536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65120"/>
                <a:gridCol w="2865120"/>
                <a:gridCol w="2865120"/>
              </a:tblGrid>
              <a:tr h="365760">
                <a:tc>
                  <a:txBody>
                    <a:bodyPr/>
                    <a:lstStyle/>
                    <a:p>
                      <a:r>
                        <a:t>Cellule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Participants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Rôle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t>Cellule décisionnelle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DG, DAF, DRH, Dir. juridique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Décide et arbitre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t>Cellule opérationnelle 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DSI, RSSI, SOC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Qualifie et remédie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t>Communication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Dir. communication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Messages internes et externes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Les phases du scénario</a:t>
            </a:r>
          </a:p>
        </p:txBody>
      </p:sp>
      <p:grpSp>
        <p:nvGrpSpPr>
          <p:cNvPr id="3" name="Group 2"/>
          <p:cNvGrpSpPr/>
          <p:nvPr/>
        </p:nvGrpSpPr>
        <p:grpSpPr>
          <a:xfrm>
            <a:off x="274320" y="1828800"/>
            <a:ext cx="8412480" cy="1097280"/>
            <a:chOff x="274320" y="1828800"/>
            <a:chExt cx="8412480" cy="1097280"/>
          </a:xfrm>
        </p:grpSpPr>
        <p:sp>
          <p:nvSpPr>
            <p:cNvPr id="4" name="Chevron 3"/>
            <p:cNvSpPr/>
            <p:nvPr/>
          </p:nvSpPr>
          <p:spPr>
            <a:xfrm>
              <a:off x="5943600" y="1828800"/>
              <a:ext cx="2743200" cy="1097280"/>
            </a:xfrm>
            <a:prstGeom prst="chevron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t>Phase 3 - Sortie de crise</a:t>
              </a:r>
            </a:p>
            <a:p>
              <a:r>
                <a:t>H+2:00 → H+3:00</a:t>
              </a:r>
            </a:p>
          </p:txBody>
        </p:sp>
        <p:sp>
          <p:nvSpPr>
            <p:cNvPr id="5" name="Chevron 4"/>
            <p:cNvSpPr/>
            <p:nvPr/>
          </p:nvSpPr>
          <p:spPr>
            <a:xfrm>
              <a:off x="3108960" y="1828800"/>
              <a:ext cx="2743200" cy="1097280"/>
            </a:xfrm>
            <a:prstGeom prst="chevron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t>Phase 2 - Escalade</a:t>
              </a:r>
            </a:p>
            <a:p>
              <a:r>
                <a:t>H+0:45 → H+2:00</a:t>
              </a:r>
            </a:p>
          </p:txBody>
        </p:sp>
        <p:sp>
          <p:nvSpPr>
            <p:cNvPr id="6" name="Chevron 5"/>
            <p:cNvSpPr/>
            <p:nvPr/>
          </p:nvSpPr>
          <p:spPr>
            <a:xfrm>
              <a:off x="274320" y="1828800"/>
              <a:ext cx="2743200" cy="1097280"/>
            </a:xfrm>
            <a:prstGeom prst="chevron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t>Phase 1 - Détection</a:t>
              </a:r>
            </a:p>
            <a:p>
              <a:r>
                <a:t>H+0:00 → H+0:45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Chronogramme (1/2)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1371600"/>
          <a:ext cx="859536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32560"/>
                <a:gridCol w="1432560"/>
                <a:gridCol w="1432560"/>
                <a:gridCol w="1432560"/>
                <a:gridCol w="1432560"/>
                <a:gridCol w="1432560"/>
              </a:tblGrid>
              <a:tr h="365760">
                <a:tc>
                  <a:txBody>
                    <a:bodyPr/>
                    <a:lstStyle/>
                    <a:p>
                      <a:r>
                        <a:t>Horaire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Phase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Émetteur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Destinataire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Canal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Contenu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t>H+0:00</a:t>
                      </a:r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r>
                        <a:t>Détection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SOC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Cellule opérationnelle 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Mail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Alertes EDR sur 3 serveurs du WMS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t>H+0:15</a:t>
                      </a:r>
                    </a:p>
                  </a:txBody>
                  <a:tcPr/>
                </a:tc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Chef d’entrepôt Rungis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Cellule opérationnelle 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Téléphone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Les écrans du WMS affichent une note de rançon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t>H+0:40</a:t>
                      </a:r>
                    </a:p>
                  </a:txBody>
                  <a:tcPr/>
                </a:tc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DSI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Cellule décisionnelle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Mail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Demande de convocation de la cellule de crise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Chronogramme (2/2)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1371600"/>
          <a:ext cx="859536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32560"/>
                <a:gridCol w="1432560"/>
                <a:gridCol w="1432560"/>
                <a:gridCol w="1432560"/>
                <a:gridCol w="1432560"/>
                <a:gridCol w="1432560"/>
              </a:tblGrid>
              <a:tr h="365760">
                <a:tc>
                  <a:txBody>
                    <a:bodyPr/>
                    <a:lstStyle/>
                    <a:p>
                      <a:r>
                        <a:t>Horaire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Phase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Émetteur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Destinataire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Canal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Contenu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t>H+1:00</a:t>
                      </a:r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r>
                        <a:t>Escalade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Journaliste Le Parisien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Communication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Téléphone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Rumeur de denrées avariées, demande de réaction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t>H+1:30</a:t>
                      </a:r>
                    </a:p>
                  </a:txBody>
                  <a:tcPr/>
                </a:tc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Client Carrefour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Cellule décisionnelle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Mail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Menace de pénalités si les livraisons s’arrêtent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t>H+2:15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Sortie de crise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ANSSI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Cellule opérationnelle 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Mail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Point de situation et recommandations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Stimulus 7 - Tweet viral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H+1:10</a:t>
            </a:r>
          </a:p>
          <a:p>
            <a:pPr/>
            <a:r>
              <a:t>Émetteur : @FoodWatchFR</a:t>
            </a:r>
          </a:p>
          <a:p>
            <a:pPr/>
            <a:r>
              <a:t>Destinataire : Communication</a:t>
            </a:r>
          </a:p>
          <a:p>
            <a:pPr/>
            <a:r>
              <a:t>Canal : Réseaux sociaux</a:t>
            </a:r>
          </a:p>
          <a:p>
            <a:pPr/>
            <a:r>
              <a:t>« Des yaourts tièdes livrés chez @Carrefour ? #Frigolog cache quelque chose »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Réservé aux animateurs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Si la cellule décide d’arrêter le WMS, injecter le stimulus 12 bis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Charge par cellule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14400" y="1371600"/>
          <a:ext cx="73152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Chronologie de l’attaque</a:t>
            </a:r>
          </a:p>
        </p:txBody>
      </p:sp>
      <p:graphicFrame>
        <p:nvGraphicFramePr>
          <p:cNvPr id="90" name="Diagram 1"/>
          <p:cNvGraphicFramePr/>
          <p:nvPr/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Dgm1" r:lo="rIdDgm1" r:qs="rIdDgm1" r:cs="rIdDgm1"/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RETEX et évaluation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Tour de table des joueurs</a:t>
            </a:r>
          </a:p>
          <a:p>
            <a:pPr/>
            <a:r>
              <a:t>Grille d’évaluation par objectif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Exercice de crise cyber - Opération Chaîne du froid</dc:title>
  <dc:subject/>
  <dc:creator>Crisis team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